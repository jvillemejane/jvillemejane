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4" r:id="rId2"/>
  </p:sldMasterIdLst>
  <p:notesMasterIdLst>
    <p:notesMasterId r:id="rId13"/>
  </p:notesMasterIdLst>
  <p:handoutMasterIdLst>
    <p:handoutMasterId r:id="rId14"/>
  </p:handoutMasterIdLst>
  <p:sldIdLst>
    <p:sldId id="314" r:id="rId3"/>
    <p:sldId id="324" r:id="rId4"/>
    <p:sldId id="318" r:id="rId5"/>
    <p:sldId id="329" r:id="rId6"/>
    <p:sldId id="327" r:id="rId7"/>
    <p:sldId id="325" r:id="rId8"/>
    <p:sldId id="333" r:id="rId9"/>
    <p:sldId id="328" r:id="rId10"/>
    <p:sldId id="330" r:id="rId11"/>
    <p:sldId id="335" r:id="rId12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1pPr>
    <a:lvl2pPr marL="45358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2pPr>
    <a:lvl3pPr marL="91034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3pPr>
    <a:lvl4pPr marL="13671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4pPr>
    <a:lvl5pPr marL="182387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5pPr>
    <a:lvl6pPr marL="2283805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6pPr>
    <a:lvl7pPr marL="274056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7pPr>
    <a:lvl8pPr marL="319732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8pPr>
    <a:lvl9pPr marL="3654091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A6AAF0A-6CDB-6A4B-A404-BE18D9B0BA16}">
          <p14:sldIdLst>
            <p14:sldId id="314"/>
            <p14:sldId id="324"/>
            <p14:sldId id="318"/>
            <p14:sldId id="329"/>
            <p14:sldId id="327"/>
            <p14:sldId id="325"/>
            <p14:sldId id="333"/>
            <p14:sldId id="328"/>
            <p14:sldId id="330"/>
            <p14:sldId id="3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lvie Retailleau" initials="SR" lastIdx="9" clrIdx="0"/>
  <p:cmAuthor id="2" name="Claire LARTIGUE" initials="CL" lastIdx="10" clrIdx="1"/>
  <p:cmAuthor id="3" name="Bouye Clementine" initials="BC" lastIdx="1" clrIdx="2">
    <p:extLst>
      <p:ext uri="{19B8F6BF-5375-455C-9EA6-DF929625EA0E}">
        <p15:presenceInfo xmlns:p15="http://schemas.microsoft.com/office/powerpoint/2012/main" userId="S-1-5-21-2844717677-1882146966-2427725951-285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22268"/>
    <a:srgbClr val="FFFFFF"/>
    <a:srgbClr val="00305E"/>
    <a:srgbClr val="FF960A"/>
    <a:srgbClr val="272771"/>
    <a:srgbClr val="00B0F0"/>
    <a:srgbClr val="FA960A"/>
    <a:srgbClr val="0A3250"/>
    <a:srgbClr val="CBE5F9"/>
    <a:srgbClr val="9E1B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3" autoAdjust="0"/>
    <p:restoredTop sz="96395" autoAdjust="0"/>
  </p:normalViewPr>
  <p:slideViewPr>
    <p:cSldViewPr>
      <p:cViewPr varScale="1">
        <p:scale>
          <a:sx n="106" d="100"/>
          <a:sy n="106" d="100"/>
        </p:scale>
        <p:origin x="924" y="120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56" d="100"/>
          <a:sy n="156" d="100"/>
        </p:scale>
        <p:origin x="7648" y="19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05200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E5C97D-F4A4-3148-9D69-08ACA8026603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0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r>
              <a:rPr lang="fr-FR" dirty="0"/>
              <a:t>CA IOGS 20 décembre 2018</a:t>
            </a:r>
          </a:p>
        </p:txBody>
      </p:sp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510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202EF97-A5BF-E644-B5D7-99A720C3808E}" type="datetimeFigureOut">
              <a:rPr lang="fr-FR"/>
              <a:pPr/>
              <a:t>13/11/2025</a:t>
            </a:fld>
            <a:endParaRPr lang="fr-FR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D8CFC6-2EE8-4043-8C44-71F3876B96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8540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1pPr>
    <a:lvl2pPr marL="45358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2pPr>
    <a:lvl3pPr marL="91034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3pPr>
    <a:lvl4pPr marL="13671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4pPr>
    <a:lvl5pPr marL="182387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5pPr>
    <a:lvl6pPr marL="2282113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8534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4959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1381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4979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5019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34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22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06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8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4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58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76049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9703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78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07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116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79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547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62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7" y="6326"/>
            <a:ext cx="4343623" cy="15240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8" name="Image 7" descr="Une image contenant texte, Police, logo, capture d’écran&#10;&#10;Description générée automatiquement">
            <a:extLst>
              <a:ext uri="{FF2B5EF4-FFF2-40B4-BE49-F238E27FC236}">
                <a16:creationId xmlns:a16="http://schemas.microsoft.com/office/drawing/2014/main" id="{694B1DE4-CB4F-B2D5-AF79-9F33FDB0F9A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01" y="290433"/>
            <a:ext cx="1725439" cy="95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8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jp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20.wmf"/><Relationship Id="rId9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5ADAD9-507B-94BA-E29A-43B51FDD61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Insertion Professionnelle après </a:t>
            </a:r>
            <a:r>
              <a:rPr lang="fr-FR" dirty="0" err="1"/>
              <a:t>SupOptique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2A2FD8B-8D39-6F45-DA6B-D41E721F90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Processus de collecte</a:t>
            </a:r>
            <a:br>
              <a:rPr lang="fr-FR" dirty="0"/>
            </a:br>
            <a:r>
              <a:rPr lang="fr-FR" dirty="0"/>
              <a:t>Résultats des dernières enquêtes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B95965-21A8-CD84-CA86-72DBE1631D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36560" y="6381328"/>
            <a:ext cx="720080" cy="288032"/>
          </a:xfrm>
          <a:prstGeom prst="rect">
            <a:avLst/>
          </a:prstGeom>
        </p:spPr>
        <p:txBody>
          <a:bodyPr/>
          <a:lstStyle/>
          <a:p>
            <a:fld id="{883C3D88-8D27-E04A-93A4-C5B7506FCE43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893150F-8C8B-657A-CAD2-BE5BC865438D}"/>
              </a:ext>
            </a:extLst>
          </p:cNvPr>
          <p:cNvSpPr txBox="1">
            <a:spLocks/>
          </p:cNvSpPr>
          <p:nvPr/>
        </p:nvSpPr>
        <p:spPr bwMode="auto">
          <a:xfrm>
            <a:off x="0" y="5924534"/>
            <a:ext cx="121920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A32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A32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A32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A32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A32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A32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A32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A32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A32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defRPr>
            </a:lvl9pPr>
          </a:lstStyle>
          <a:p>
            <a:pPr algn="ctr">
              <a:defRPr/>
            </a:pPr>
            <a:r>
              <a:rPr lang="fr-FR" sz="1400" b="0" i="1" kern="0" dirty="0">
                <a:solidFill>
                  <a:schemeClr val="bg1">
                    <a:lumMod val="50000"/>
                  </a:schemeClr>
                </a:solidFill>
                <a:effectLst/>
              </a:rPr>
              <a:t>Données recueillies par l’association CGE</a:t>
            </a:r>
            <a:br>
              <a:rPr lang="fr-FR" sz="1400" b="0" i="1" kern="0" dirty="0">
                <a:solidFill>
                  <a:schemeClr val="bg1">
                    <a:lumMod val="50000"/>
                  </a:schemeClr>
                </a:solidFill>
                <a:effectLst/>
              </a:rPr>
            </a:br>
            <a:r>
              <a:rPr lang="fr-FR" sz="1400" b="0" i="1" kern="0" dirty="0">
                <a:solidFill>
                  <a:schemeClr val="bg1">
                    <a:lumMod val="50000"/>
                  </a:schemeClr>
                </a:solidFill>
                <a:effectLst/>
              </a:rPr>
              <a:t>et compilées par </a:t>
            </a:r>
            <a:r>
              <a:rPr lang="fr-FR" sz="1400" i="1" kern="0" dirty="0">
                <a:solidFill>
                  <a:schemeClr val="bg1">
                    <a:lumMod val="50000"/>
                  </a:schemeClr>
                </a:solidFill>
                <a:effectLst/>
              </a:rPr>
              <a:t>Julien VILLEMEJANE</a:t>
            </a:r>
          </a:p>
        </p:txBody>
      </p:sp>
      <p:pic>
        <p:nvPicPr>
          <p:cNvPr id="6" name="Picture 2" descr="upright=Article à illustrer Organisation">
            <a:extLst>
              <a:ext uri="{FF2B5EF4-FFF2-40B4-BE49-F238E27FC236}">
                <a16:creationId xmlns:a16="http://schemas.microsoft.com/office/drawing/2014/main" id="{6F6899A9-0D72-4C3B-73D5-188C847C1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424" y="332656"/>
            <a:ext cx="20955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7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88FCAEB8-6E3D-3A5A-DC02-0193743BE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54449"/>
            <a:ext cx="4343400" cy="15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5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36DBC-C081-0A11-C75B-7283CC450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043D7E92-A0E2-AF25-4889-6F3D7BDE1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54449"/>
            <a:ext cx="4343400" cy="152476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9026DD2-1B1B-842A-99BA-71AD8312C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Enquête CGE / Processus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1A85E3A-4842-3FE5-C358-5FCCF464893E}"/>
              </a:ext>
            </a:extLst>
          </p:cNvPr>
          <p:cNvSpPr/>
          <p:nvPr/>
        </p:nvSpPr>
        <p:spPr bwMode="auto">
          <a:xfrm>
            <a:off x="936952" y="1515078"/>
            <a:ext cx="1849374" cy="2260231"/>
          </a:xfrm>
          <a:prstGeom prst="roundRect">
            <a:avLst>
              <a:gd name="adj" fmla="val 6735"/>
            </a:avLst>
          </a:prstGeom>
          <a:solidFill>
            <a:schemeClr val="bg1"/>
          </a:solidFill>
          <a:ln w="12700" cap="flat" cmpd="sng" algn="ctr">
            <a:solidFill>
              <a:srgbClr val="0A325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1A9D571-5AD1-BDD3-12FC-1C3B87BFE4C2}"/>
              </a:ext>
            </a:extLst>
          </p:cNvPr>
          <p:cNvSpPr/>
          <p:nvPr/>
        </p:nvSpPr>
        <p:spPr bwMode="auto">
          <a:xfrm>
            <a:off x="8739809" y="1483135"/>
            <a:ext cx="1849374" cy="2282990"/>
          </a:xfrm>
          <a:prstGeom prst="roundRect">
            <a:avLst>
              <a:gd name="adj" fmla="val 6735"/>
            </a:avLst>
          </a:prstGeom>
          <a:solidFill>
            <a:schemeClr val="bg1"/>
          </a:solidFill>
          <a:ln w="127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D831EC2-EC9B-64F5-BF7C-BE2480D7B89F}"/>
              </a:ext>
            </a:extLst>
          </p:cNvPr>
          <p:cNvSpPr/>
          <p:nvPr/>
        </p:nvSpPr>
        <p:spPr bwMode="auto">
          <a:xfrm>
            <a:off x="6095487" y="1488599"/>
            <a:ext cx="1849374" cy="2278544"/>
          </a:xfrm>
          <a:prstGeom prst="roundRect">
            <a:avLst>
              <a:gd name="adj" fmla="val 6735"/>
            </a:avLst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9C5AB68-BED5-9625-3215-C5A2F56B0FC5}"/>
              </a:ext>
            </a:extLst>
          </p:cNvPr>
          <p:cNvSpPr/>
          <p:nvPr/>
        </p:nvSpPr>
        <p:spPr bwMode="auto">
          <a:xfrm>
            <a:off x="3516219" y="1499747"/>
            <a:ext cx="1849374" cy="2275562"/>
          </a:xfrm>
          <a:prstGeom prst="roundRect">
            <a:avLst>
              <a:gd name="adj" fmla="val 6735"/>
            </a:avLst>
          </a:prstGeom>
          <a:solidFill>
            <a:schemeClr val="bg1"/>
          </a:solidFill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89DA4F-5865-9591-3B8F-457423FB31FC}"/>
              </a:ext>
            </a:extLst>
          </p:cNvPr>
          <p:cNvSpPr/>
          <p:nvPr/>
        </p:nvSpPr>
        <p:spPr bwMode="auto">
          <a:xfrm>
            <a:off x="9181347" y="5082684"/>
            <a:ext cx="1370470" cy="89184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D1BFEC11-4C3E-6816-822C-8F27171E3DC0}"/>
              </a:ext>
            </a:extLst>
          </p:cNvPr>
          <p:cNvSpPr/>
          <p:nvPr/>
        </p:nvSpPr>
        <p:spPr bwMode="auto">
          <a:xfrm>
            <a:off x="995250" y="2915718"/>
            <a:ext cx="1728216" cy="255140"/>
          </a:xfrm>
          <a:prstGeom prst="homePlate">
            <a:avLst/>
          </a:prstGeom>
          <a:solidFill>
            <a:srgbClr val="0A32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Q4</a:t>
            </a:r>
          </a:p>
        </p:txBody>
      </p:sp>
      <p:sp>
        <p:nvSpPr>
          <p:cNvPr id="11" name="Flèche : chevron 10">
            <a:extLst>
              <a:ext uri="{FF2B5EF4-FFF2-40B4-BE49-F238E27FC236}">
                <a16:creationId xmlns:a16="http://schemas.microsoft.com/office/drawing/2014/main" id="{B0055103-6FFF-B3FC-7093-91CC89A5C96D}"/>
              </a:ext>
            </a:extLst>
          </p:cNvPr>
          <p:cNvSpPr/>
          <p:nvPr/>
        </p:nvSpPr>
        <p:spPr bwMode="auto">
          <a:xfrm>
            <a:off x="3572688" y="2907922"/>
            <a:ext cx="1728216" cy="255140"/>
          </a:xfrm>
          <a:prstGeom prst="chevron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Q1</a:t>
            </a:r>
          </a:p>
        </p:txBody>
      </p:sp>
      <p:sp>
        <p:nvSpPr>
          <p:cNvPr id="12" name="Flèche : chevron 11">
            <a:extLst>
              <a:ext uri="{FF2B5EF4-FFF2-40B4-BE49-F238E27FC236}">
                <a16:creationId xmlns:a16="http://schemas.microsoft.com/office/drawing/2014/main" id="{3896C13C-21C7-9DF4-6DF1-B64E09E19358}"/>
              </a:ext>
            </a:extLst>
          </p:cNvPr>
          <p:cNvSpPr/>
          <p:nvPr/>
        </p:nvSpPr>
        <p:spPr bwMode="auto">
          <a:xfrm>
            <a:off x="6153708" y="2899756"/>
            <a:ext cx="1728216" cy="255140"/>
          </a:xfrm>
          <a:prstGeom prst="chevron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Q2</a:t>
            </a:r>
          </a:p>
        </p:txBody>
      </p:sp>
      <p:sp>
        <p:nvSpPr>
          <p:cNvPr id="13" name="Flèche : chevron 12">
            <a:extLst>
              <a:ext uri="{FF2B5EF4-FFF2-40B4-BE49-F238E27FC236}">
                <a16:creationId xmlns:a16="http://schemas.microsoft.com/office/drawing/2014/main" id="{C3386368-3A26-7960-9DEC-6C32A5543459}"/>
              </a:ext>
            </a:extLst>
          </p:cNvPr>
          <p:cNvSpPr/>
          <p:nvPr/>
        </p:nvSpPr>
        <p:spPr bwMode="auto">
          <a:xfrm>
            <a:off x="8801711" y="2898737"/>
            <a:ext cx="1728216" cy="255140"/>
          </a:xfrm>
          <a:prstGeom prst="chevron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Q3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6B1D229-2FA2-CFE9-B43F-62C19B799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478" y="2631983"/>
            <a:ext cx="303738" cy="25514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37FBDDFF-900F-E680-D2C2-8DB18CAD2AB1}"/>
              </a:ext>
            </a:extLst>
          </p:cNvPr>
          <p:cNvSpPr txBox="1"/>
          <p:nvPr/>
        </p:nvSpPr>
        <p:spPr>
          <a:xfrm>
            <a:off x="4091989" y="2568818"/>
            <a:ext cx="6896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>
                <a:solidFill>
                  <a:srgbClr val="7030A0"/>
                </a:solidFill>
                <a:latin typeface="Raleway" pitchFamily="2" charset="0"/>
              </a:rPr>
              <a:t>COLLECT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6052042-F827-39E2-014F-E57802CCE36F}"/>
              </a:ext>
            </a:extLst>
          </p:cNvPr>
          <p:cNvSpPr txBox="1"/>
          <p:nvPr/>
        </p:nvSpPr>
        <p:spPr>
          <a:xfrm>
            <a:off x="1564245" y="2581574"/>
            <a:ext cx="5902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>
                <a:solidFill>
                  <a:srgbClr val="0A3250"/>
                </a:solidFill>
                <a:latin typeface="Raleway" pitchFamily="2" charset="0"/>
              </a:rPr>
              <a:t>SET UP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D7EBEA5-58A1-F42A-2361-EC0422A1068B}"/>
              </a:ext>
            </a:extLst>
          </p:cNvPr>
          <p:cNvSpPr txBox="1"/>
          <p:nvPr/>
        </p:nvSpPr>
        <p:spPr>
          <a:xfrm>
            <a:off x="6638264" y="2560652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>
                <a:solidFill>
                  <a:srgbClr val="0070C0"/>
                </a:solidFill>
                <a:latin typeface="Raleway" pitchFamily="2" charset="0"/>
              </a:rPr>
              <a:t>PROCESS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2B37BCF-FECD-379A-5CEB-67499A2CADB6}"/>
              </a:ext>
            </a:extLst>
          </p:cNvPr>
          <p:cNvSpPr txBox="1"/>
          <p:nvPr/>
        </p:nvSpPr>
        <p:spPr>
          <a:xfrm>
            <a:off x="9333033" y="2559633"/>
            <a:ext cx="6655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>
                <a:solidFill>
                  <a:srgbClr val="00B0F0"/>
                </a:solidFill>
                <a:latin typeface="Raleway" pitchFamily="2" charset="0"/>
              </a:rPr>
              <a:t>DIFFUSE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3EA51758-D6C2-C2B6-A7D8-A741D9B13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066" y="2009654"/>
            <a:ext cx="335972" cy="29299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06C1A2E6-13E1-8BDF-F25D-F914CACC2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608" y="1752759"/>
            <a:ext cx="246371" cy="256359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904EE84E-E362-1E62-1675-100131B9E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7792" y="2046308"/>
            <a:ext cx="418005" cy="400378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A28E9D2B-572C-B0BE-1148-22750CA19F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619" y="1992892"/>
            <a:ext cx="366550" cy="395965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DF9C2764-EDB0-A8E6-906D-2ED066B1D2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2799" y="1852056"/>
            <a:ext cx="369631" cy="371731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C2DF21A0-D14E-9FB8-F449-B0DB9DF858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2248" y="2208287"/>
            <a:ext cx="227446" cy="225909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7CDE13BB-FEA0-C941-0CFC-756834AC9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8060" y="2276215"/>
            <a:ext cx="236936" cy="206962"/>
          </a:xfrm>
          <a:prstGeom prst="rect">
            <a:avLst/>
          </a:prstGeom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D477FD62-F316-A636-E427-6B344C19F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5006" y="4559205"/>
            <a:ext cx="634177" cy="62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EAD0664D-32AD-455B-227D-2D28F8E628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36815" y="4559205"/>
            <a:ext cx="806264" cy="154910"/>
          </a:xfrm>
          <a:prstGeom prst="rect">
            <a:avLst/>
          </a:prstGeom>
        </p:spPr>
      </p:pic>
      <p:pic>
        <p:nvPicPr>
          <p:cNvPr id="35" name="Graphique 34">
            <a:extLst>
              <a:ext uri="{FF2B5EF4-FFF2-40B4-BE49-F238E27FC236}">
                <a16:creationId xmlns:a16="http://schemas.microsoft.com/office/drawing/2014/main" id="{45594083-4E98-6EB6-5DAD-B86875FB9C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918478" y="4797542"/>
            <a:ext cx="642937" cy="185737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9372F1B3-1001-599D-B658-6E74A64CCE9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45910" y="5041448"/>
            <a:ext cx="554801" cy="217773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CE91ABFB-2B4B-9ACD-6E45-6DDDB3BD43BA}"/>
              </a:ext>
            </a:extLst>
          </p:cNvPr>
          <p:cNvSpPr txBox="1"/>
          <p:nvPr/>
        </p:nvSpPr>
        <p:spPr>
          <a:xfrm>
            <a:off x="10001503" y="5464191"/>
            <a:ext cx="137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solidFill>
                  <a:srgbClr val="00B0F0"/>
                </a:solidFill>
                <a:latin typeface="Raleway" pitchFamily="2" charset="0"/>
              </a:rPr>
              <a:t>Données certifiées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1E31C00-3522-5EED-A24E-08C7619758C5}"/>
              </a:ext>
            </a:extLst>
          </p:cNvPr>
          <p:cNvSpPr txBox="1"/>
          <p:nvPr/>
        </p:nvSpPr>
        <p:spPr>
          <a:xfrm>
            <a:off x="10001503" y="5879023"/>
            <a:ext cx="137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solidFill>
                  <a:srgbClr val="00B0F0"/>
                </a:solidFill>
                <a:latin typeface="Raleway" pitchFamily="2" charset="0"/>
              </a:rPr>
              <a:t>Communication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7A2AB01-0345-7AA3-9D08-A60159BE48BF}"/>
              </a:ext>
            </a:extLst>
          </p:cNvPr>
          <p:cNvSpPr txBox="1"/>
          <p:nvPr/>
        </p:nvSpPr>
        <p:spPr>
          <a:xfrm>
            <a:off x="10529035" y="4241854"/>
            <a:ext cx="137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solidFill>
                  <a:srgbClr val="00B0F0"/>
                </a:solidFill>
                <a:latin typeface="Raleway" pitchFamily="2" charset="0"/>
              </a:rPr>
              <a:t>Classement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090FE2B7-11F6-5648-5A9D-1F864FA32F4C}"/>
              </a:ext>
            </a:extLst>
          </p:cNvPr>
          <p:cNvCxnSpPr>
            <a:cxnSpLocks/>
          </p:cNvCxnSpPr>
          <p:nvPr/>
        </p:nvCxnSpPr>
        <p:spPr bwMode="auto">
          <a:xfrm>
            <a:off x="9477437" y="5879023"/>
            <a:ext cx="447718" cy="16517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960A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1C4A8D5-F041-E9C9-AD6C-24DBC12C7D76}"/>
              </a:ext>
            </a:extLst>
          </p:cNvPr>
          <p:cNvCxnSpPr>
            <a:cxnSpLocks/>
          </p:cNvCxnSpPr>
          <p:nvPr/>
        </p:nvCxnSpPr>
        <p:spPr bwMode="auto">
          <a:xfrm>
            <a:off x="9507281" y="5602690"/>
            <a:ext cx="44772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960A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AF58514A-52C2-D1EE-6C85-A52EC4CE0DF5}"/>
              </a:ext>
            </a:extLst>
          </p:cNvPr>
          <p:cNvSpPr txBox="1"/>
          <p:nvPr/>
        </p:nvSpPr>
        <p:spPr>
          <a:xfrm>
            <a:off x="934406" y="3276710"/>
            <a:ext cx="185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rgbClr val="002060"/>
                </a:solidFill>
                <a:latin typeface="Raleway" pitchFamily="2" charset="0"/>
              </a:rPr>
              <a:t>5</a:t>
            </a:r>
            <a:r>
              <a:rPr lang="fr-FR" sz="1200" dirty="0">
                <a:solidFill>
                  <a:srgbClr val="002060"/>
                </a:solidFill>
                <a:latin typeface="Raleway" pitchFamily="2" charset="0"/>
              </a:rPr>
              <a:t> dernières promos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6EEBFE2-DF88-E0E1-A7D9-0B621F9B52CA}"/>
              </a:ext>
            </a:extLst>
          </p:cNvPr>
          <p:cNvSpPr txBox="1"/>
          <p:nvPr/>
        </p:nvSpPr>
        <p:spPr>
          <a:xfrm>
            <a:off x="3572688" y="3213516"/>
            <a:ext cx="17282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>
                <a:solidFill>
                  <a:srgbClr val="7030A0"/>
                </a:solidFill>
                <a:latin typeface="Raleway" pitchFamily="2" charset="0"/>
              </a:rPr>
              <a:t>15 minutes</a:t>
            </a:r>
          </a:p>
          <a:p>
            <a:pPr algn="ctr"/>
            <a:r>
              <a:rPr lang="fr-FR" sz="1200" dirty="0">
                <a:solidFill>
                  <a:srgbClr val="7030A0"/>
                </a:solidFill>
                <a:latin typeface="Raleway" pitchFamily="2" charset="0"/>
              </a:rPr>
              <a:t>Par an / 5 années</a:t>
            </a:r>
            <a:endParaRPr lang="fr-FR" sz="900" dirty="0">
              <a:solidFill>
                <a:srgbClr val="7030A0"/>
              </a:solidFill>
              <a:latin typeface="Raleway" pitchFamily="2" charset="0"/>
            </a:endParaRPr>
          </a:p>
        </p:txBody>
      </p:sp>
      <p:sp>
        <p:nvSpPr>
          <p:cNvPr id="45" name="Espace réservé du contenu 2">
            <a:extLst>
              <a:ext uri="{FF2B5EF4-FFF2-40B4-BE49-F238E27FC236}">
                <a16:creationId xmlns:a16="http://schemas.microsoft.com/office/drawing/2014/main" id="{89DA8697-9D7E-6D51-E3B1-820BF5874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4987" y="4243824"/>
            <a:ext cx="4361612" cy="464602"/>
          </a:xfrm>
        </p:spPr>
        <p:txBody>
          <a:bodyPr/>
          <a:lstStyle/>
          <a:p>
            <a:pPr marL="0" indent="0" algn="ctr">
              <a:buNone/>
            </a:pPr>
            <a:r>
              <a:rPr lang="fr-FR" altLang="fr-FR" sz="2000" b="1" dirty="0">
                <a:solidFill>
                  <a:srgbClr val="222268"/>
                </a:solidFill>
                <a:ea typeface="ＭＳ Ｐゴシック" panose="020B0600070205080204" pitchFamily="34" charset="-128"/>
              </a:rPr>
              <a:t>Participer chaque année, c’est 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D4F9B8-CFF2-1A73-4933-DFD36A05A413}"/>
              </a:ext>
            </a:extLst>
          </p:cNvPr>
          <p:cNvSpPr/>
          <p:nvPr/>
        </p:nvSpPr>
        <p:spPr>
          <a:xfrm>
            <a:off x="978320" y="4841805"/>
            <a:ext cx="733495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33333"/>
                </a:solidFill>
                <a:latin typeface="Calibri" panose="020F0502020204030204" pitchFamily="34" charset="0"/>
              </a:rPr>
              <a:t>Promouvoir la </a:t>
            </a:r>
            <a:r>
              <a:rPr lang="fr-FR" sz="1800" b="1" dirty="0">
                <a:solidFill>
                  <a:srgbClr val="FF960A"/>
                </a:solidFill>
                <a:latin typeface="Calibri" panose="020F0502020204030204" pitchFamily="34" charset="0"/>
              </a:rPr>
              <a:t>diversité d’insertion professionnelle</a:t>
            </a:r>
            <a:r>
              <a:rPr lang="fr-FR" sz="1800" dirty="0">
                <a:solidFill>
                  <a:srgbClr val="FF960A"/>
                </a:solidFill>
                <a:latin typeface="Calibri" panose="020F0502020204030204" pitchFamily="34" charset="0"/>
              </a:rPr>
              <a:t> </a:t>
            </a:r>
            <a:r>
              <a:rPr lang="fr-FR" sz="1800" dirty="0">
                <a:solidFill>
                  <a:srgbClr val="333333"/>
                </a:solidFill>
                <a:latin typeface="Calibri" panose="020F0502020204030204" pitchFamily="34" charset="0"/>
              </a:rPr>
              <a:t>de l’école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Augmenter les </a:t>
            </a:r>
            <a:r>
              <a:rPr lang="fr-FR" b="1" dirty="0">
                <a:solidFill>
                  <a:srgbClr val="333333"/>
                </a:solidFill>
                <a:latin typeface="Calibri" panose="020F0502020204030204" pitchFamily="34" charset="0"/>
              </a:rPr>
              <a:t>données collectées</a:t>
            </a: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 et les rendre </a:t>
            </a:r>
            <a:r>
              <a:rPr lang="fr-FR" b="1" dirty="0">
                <a:solidFill>
                  <a:srgbClr val="333333"/>
                </a:solidFill>
                <a:latin typeface="Calibri" panose="020F0502020204030204" pitchFamily="34" charset="0"/>
              </a:rPr>
              <a:t>pertinentes</a:t>
            </a: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 </a:t>
            </a:r>
            <a:b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</a:b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pour </a:t>
            </a:r>
            <a:r>
              <a:rPr lang="fr-FR" b="1" dirty="0">
                <a:solidFill>
                  <a:srgbClr val="FF960A"/>
                </a:solidFill>
                <a:latin typeface="Calibri" panose="020F0502020204030204" pitchFamily="34" charset="0"/>
              </a:rPr>
              <a:t>l’élaboration des classements</a:t>
            </a:r>
            <a:r>
              <a:rPr lang="fr-FR" dirty="0">
                <a:solidFill>
                  <a:srgbClr val="FF960A"/>
                </a:solidFill>
                <a:latin typeface="Calibri" panose="020F0502020204030204" pitchFamily="34" charset="0"/>
              </a:rPr>
              <a:t> </a:t>
            </a: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de </a:t>
            </a:r>
            <a:r>
              <a:rPr lang="fr-FR" dirty="0" err="1">
                <a:solidFill>
                  <a:srgbClr val="333333"/>
                </a:solidFill>
                <a:latin typeface="Calibri" panose="020F0502020204030204" pitchFamily="34" charset="0"/>
              </a:rPr>
              <a:t>SupOptique</a:t>
            </a:r>
            <a:endParaRPr lang="fr-FR" dirty="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Faciliter la </a:t>
            </a:r>
            <a:r>
              <a:rPr lang="fr-FR" b="1" dirty="0">
                <a:solidFill>
                  <a:srgbClr val="333333"/>
                </a:solidFill>
                <a:latin typeface="Calibri" panose="020F0502020204030204" pitchFamily="34" charset="0"/>
              </a:rPr>
              <a:t>communication de l’école </a:t>
            </a: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auprès des futures recrues</a:t>
            </a:r>
            <a:endParaRPr lang="fr-FR" dirty="0">
              <a:solidFill>
                <a:srgbClr val="333333"/>
              </a:solidFill>
              <a:latin typeface="Lucida Sans" panose="020B0602030504020204" pitchFamily="34" charset="0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920357A0-CCC0-6D55-5344-5F3608089E6F}"/>
              </a:ext>
            </a:extLst>
          </p:cNvPr>
          <p:cNvSpPr txBox="1"/>
          <p:nvPr/>
        </p:nvSpPr>
        <p:spPr>
          <a:xfrm>
            <a:off x="7179169" y="3992017"/>
            <a:ext cx="2567128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rgbClr val="0070C0"/>
                </a:solidFill>
                <a:latin typeface="Raleway" pitchFamily="2" charset="0"/>
              </a:rPr>
              <a:t>Valider l’enquête</a:t>
            </a:r>
            <a:endParaRPr lang="fr-FR" sz="1000" dirty="0">
              <a:solidFill>
                <a:srgbClr val="0070C0"/>
              </a:solidFill>
              <a:latin typeface="Raleway" pitchFamily="2" charset="0"/>
            </a:endParaRP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A38FC222-EEF1-92EE-621A-667C51C1AB0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40695" y="4025100"/>
            <a:ext cx="258165" cy="392858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D585241A-A01B-FDE8-72A1-DF080573FA8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0800000">
            <a:off x="9826606" y="4025100"/>
            <a:ext cx="235645" cy="39285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11424F1-E8AC-9366-49A8-6DBEA4BC8DD0}"/>
              </a:ext>
            </a:extLst>
          </p:cNvPr>
          <p:cNvSpPr txBox="1"/>
          <p:nvPr/>
        </p:nvSpPr>
        <p:spPr>
          <a:xfrm>
            <a:off x="7563186" y="6468866"/>
            <a:ext cx="499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b="1" dirty="0">
                <a:solidFill>
                  <a:srgbClr val="00B0F0"/>
                </a:solidFill>
              </a:rPr>
              <a:t>l</a:t>
            </a:r>
            <a:r>
              <a:rPr lang="fr-FR" altLang="fr-FR" b="1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ense.institutoptique.fr/insertion</a:t>
            </a:r>
            <a:endParaRPr lang="fr-F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528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D1FB2-5CA2-45D6-3AD3-084D4C3C7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D1875FF-D9FA-D6AC-93D6-CA74742D4E8B}"/>
              </a:ext>
            </a:extLst>
          </p:cNvPr>
          <p:cNvSpPr txBox="1"/>
          <p:nvPr/>
        </p:nvSpPr>
        <p:spPr>
          <a:xfrm>
            <a:off x="820678" y="3512268"/>
            <a:ext cx="1119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>
                <a:solidFill>
                  <a:srgbClr val="0070C0"/>
                </a:solidFill>
                <a:latin typeface="Raleway" pitchFamily="2" charset="0"/>
              </a:rPr>
              <a:t>PROCESS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86D4E1-BCC0-1DAF-BDC6-1B1FC65A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Enquête CGE / Traitement interne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890D40D-6974-E083-5227-003428A20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21" y="2436464"/>
            <a:ext cx="724839" cy="783005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CB503D37-98B6-7248-A365-B25551E58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06594" y="1718413"/>
            <a:ext cx="6844665" cy="430779"/>
          </a:xfrm>
        </p:spPr>
        <p:txBody>
          <a:bodyPr/>
          <a:lstStyle/>
          <a:p>
            <a:pPr marL="0" indent="0">
              <a:buNone/>
            </a:pPr>
            <a:r>
              <a:rPr lang="fr-FR" altLang="fr-FR" sz="2000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Outil pour la diffusion des résultats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30FA61-4BBA-1E01-5AB7-BFAADD9A1420}"/>
              </a:ext>
            </a:extLst>
          </p:cNvPr>
          <p:cNvSpPr/>
          <p:nvPr/>
        </p:nvSpPr>
        <p:spPr>
          <a:xfrm>
            <a:off x="2533291" y="2135554"/>
            <a:ext cx="7986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Faciliter l’accès aux résultats pour les </a:t>
            </a:r>
            <a:r>
              <a:rPr lang="fr-FR" dirty="0" err="1">
                <a:solidFill>
                  <a:srgbClr val="333333"/>
                </a:solidFill>
                <a:latin typeface="Calibri" panose="020F0502020204030204" pitchFamily="34" charset="0"/>
              </a:rPr>
              <a:t>étudiant</a:t>
            </a:r>
            <a:r>
              <a:rPr lang="fr-FR" b="0" i="0" dirty="0" err="1">
                <a:solidFill>
                  <a:srgbClr val="47474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lang="fr-FR" dirty="0" err="1">
                <a:solidFill>
                  <a:srgbClr val="333333"/>
                </a:solidFill>
                <a:latin typeface="Calibri" panose="020F0502020204030204" pitchFamily="34" charset="0"/>
              </a:rPr>
              <a:t>es</a:t>
            </a: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 et jeunes </a:t>
            </a:r>
            <a:r>
              <a:rPr lang="fr-FR" dirty="0" err="1">
                <a:solidFill>
                  <a:srgbClr val="333333"/>
                </a:solidFill>
                <a:latin typeface="Calibri" panose="020F0502020204030204" pitchFamily="34" charset="0"/>
              </a:rPr>
              <a:t>diplômé</a:t>
            </a:r>
            <a:r>
              <a:rPr lang="fr-FR" b="0" i="0" dirty="0" err="1">
                <a:solidFill>
                  <a:srgbClr val="47474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lang="fr-FR" dirty="0" err="1">
                <a:solidFill>
                  <a:srgbClr val="333333"/>
                </a:solidFill>
                <a:latin typeface="Calibri" panose="020F0502020204030204" pitchFamily="34" charset="0"/>
              </a:rPr>
              <a:t>es</a:t>
            </a:r>
            <a:endParaRPr lang="fr-FR" dirty="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« Normaliser » les données présentées</a:t>
            </a:r>
            <a:endParaRPr lang="fr-FR" dirty="0">
              <a:solidFill>
                <a:srgbClr val="333333"/>
              </a:solidFill>
              <a:latin typeface="Lucida Sans" panose="020B0602030504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0F7F69E-F4EA-049B-0DE2-3098E2BA0365}"/>
              </a:ext>
            </a:extLst>
          </p:cNvPr>
          <p:cNvSpPr txBox="1"/>
          <p:nvPr/>
        </p:nvSpPr>
        <p:spPr>
          <a:xfrm>
            <a:off x="767408" y="4093622"/>
            <a:ext cx="122575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50" dirty="0">
                <a:solidFill>
                  <a:srgbClr val="0070C0"/>
                </a:solidFill>
                <a:latin typeface="Raleway" pitchFamily="2" charset="0"/>
              </a:rPr>
              <a:t>~ 400 réponses </a:t>
            </a:r>
            <a:br>
              <a:rPr lang="fr-FR" sz="1050" dirty="0">
                <a:solidFill>
                  <a:srgbClr val="0070C0"/>
                </a:solidFill>
                <a:latin typeface="Raleway" pitchFamily="2" charset="0"/>
              </a:rPr>
            </a:br>
            <a:r>
              <a:rPr lang="fr-FR" sz="1050" dirty="0">
                <a:solidFill>
                  <a:srgbClr val="0070C0"/>
                </a:solidFill>
                <a:latin typeface="Raleway" pitchFamily="2" charset="0"/>
              </a:rPr>
              <a:t>x 200 colonnes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B69847A-1975-46B9-3FB0-FC14699F866F}"/>
              </a:ext>
            </a:extLst>
          </p:cNvPr>
          <p:cNvSpPr txBox="1"/>
          <p:nvPr/>
        </p:nvSpPr>
        <p:spPr>
          <a:xfrm>
            <a:off x="5735960" y="5478933"/>
            <a:ext cx="49981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b="1" dirty="0">
                <a:solidFill>
                  <a:srgbClr val="00B0F0"/>
                </a:solidFill>
              </a:rPr>
              <a:t>l</a:t>
            </a:r>
            <a:r>
              <a:rPr lang="fr-FR" altLang="fr-FR" b="1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ense.institutoptique.fr/insertion</a:t>
            </a:r>
            <a:endParaRPr lang="fr-FR" altLang="fr-FR" sz="1000" b="1" dirty="0">
              <a:solidFill>
                <a:srgbClr val="00B0F0"/>
              </a:solidFill>
              <a:ea typeface="ＭＳ Ｐゴシック" panose="020B0600070205080204" pitchFamily="34" charset="-128"/>
            </a:endParaRPr>
          </a:p>
          <a:p>
            <a:endParaRPr lang="fr-FR" altLang="fr-FR" sz="1050" b="1" dirty="0">
              <a:solidFill>
                <a:srgbClr val="00B0F0"/>
              </a:solidFill>
              <a:ea typeface="ＭＳ Ｐゴシック" panose="020B0600070205080204" pitchFamily="34" charset="-128"/>
            </a:endParaRPr>
          </a:p>
          <a:p>
            <a:r>
              <a:rPr lang="fr-FR" altLang="fr-FR" b="1" dirty="0">
                <a:solidFill>
                  <a:srgbClr val="00B0F0"/>
                </a:solidFill>
              </a:rPr>
              <a:t>l</a:t>
            </a:r>
            <a:r>
              <a:rPr lang="fr-FR" altLang="fr-FR" b="1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ense.institutoptique.fr/</a:t>
            </a:r>
            <a:r>
              <a:rPr lang="fr-FR" altLang="fr-FR" b="1" dirty="0" err="1">
                <a:solidFill>
                  <a:srgbClr val="00B0F0"/>
                </a:solidFill>
                <a:ea typeface="ＭＳ Ｐゴシック" panose="020B0600070205080204" pitchFamily="34" charset="-128"/>
              </a:rPr>
              <a:t>insertion_cfa</a:t>
            </a:r>
            <a:endParaRPr lang="fr-FR" dirty="0">
              <a:solidFill>
                <a:srgbClr val="00B0F0"/>
              </a:solidFill>
            </a:endParaRPr>
          </a:p>
        </p:txBody>
      </p:sp>
      <p:graphicFrame>
        <p:nvGraphicFramePr>
          <p:cNvPr id="20" name="Objet 19">
            <a:extLst>
              <a:ext uri="{FF2B5EF4-FFF2-40B4-BE49-F238E27FC236}">
                <a16:creationId xmlns:a16="http://schemas.microsoft.com/office/drawing/2014/main" id="{A762C43A-DC36-DF64-93C2-A019334B4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564647"/>
              </p:ext>
            </p:extLst>
          </p:nvPr>
        </p:nvGraphicFramePr>
        <p:xfrm>
          <a:off x="5521228" y="2846194"/>
          <a:ext cx="4998129" cy="2506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3" imgW="17049600" imgH="8553600" progId="Paint.Picture">
                  <p:embed/>
                </p:oleObj>
              </mc:Choice>
              <mc:Fallback>
                <p:oleObj name="Image bitmap" r:id="rId3" imgW="17049600" imgH="8553600" progId="Paint.Picture">
                  <p:embed/>
                  <p:pic>
                    <p:nvPicPr>
                      <p:cNvPr id="16" name="Objet 15">
                        <a:extLst>
                          <a:ext uri="{FF2B5EF4-FFF2-40B4-BE49-F238E27FC236}">
                            <a16:creationId xmlns:a16="http://schemas.microsoft.com/office/drawing/2014/main" id="{1F780350-6B74-1110-8833-05B7FC175F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1228" y="2846194"/>
                        <a:ext cx="4998129" cy="2506874"/>
                      </a:xfrm>
                      <a:prstGeom prst="rect">
                        <a:avLst/>
                      </a:prstGeom>
                      <a:ln>
                        <a:solidFill>
                          <a:srgbClr val="0070C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Image 21">
            <a:extLst>
              <a:ext uri="{FF2B5EF4-FFF2-40B4-BE49-F238E27FC236}">
                <a16:creationId xmlns:a16="http://schemas.microsoft.com/office/drawing/2014/main" id="{9AFC5904-0B8A-B131-449E-40551AC2B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766" y="5572903"/>
            <a:ext cx="89818" cy="136679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667521DE-F736-2CA5-1FEE-D846DE53F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766" y="5996765"/>
            <a:ext cx="89818" cy="136679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9BBF67A6-BE5E-5653-73C4-632F911BBD5C}"/>
              </a:ext>
            </a:extLst>
          </p:cNvPr>
          <p:cNvSpPr txBox="1"/>
          <p:nvPr/>
        </p:nvSpPr>
        <p:spPr>
          <a:xfrm>
            <a:off x="901222" y="6127321"/>
            <a:ext cx="1051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>
                <a:solidFill>
                  <a:srgbClr val="00B0F0"/>
                </a:solidFill>
                <a:latin typeface="Raleway" pitchFamily="2" charset="0"/>
              </a:rPr>
              <a:t>DIFFUSE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5EEE65E8-8543-E070-183D-E7C2E6893C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161" y="4919481"/>
            <a:ext cx="649730" cy="65342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38109265-0F63-254F-276A-9D6B1F6127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5658" y="5545532"/>
            <a:ext cx="377455" cy="37490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9493819F-7864-3AA9-7946-3BA4213CFC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105" y="5672900"/>
            <a:ext cx="338555" cy="295726"/>
          </a:xfrm>
          <a:prstGeom prst="rect">
            <a:avLst/>
          </a:prstGeom>
        </p:spPr>
      </p:pic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409C09E0-367F-D8AF-8783-8911C07B42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54449"/>
            <a:ext cx="4343400" cy="15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20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2E028-6A11-6E13-54B6-7EAFB340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A00373-02A4-7DDA-5F44-E44C2FAD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Enquête CGE / Chiffres clefs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CC11D752-D3B5-46FE-1253-45B4DC1770A1}"/>
              </a:ext>
            </a:extLst>
          </p:cNvPr>
          <p:cNvSpPr txBox="1"/>
          <p:nvPr/>
        </p:nvSpPr>
        <p:spPr>
          <a:xfrm>
            <a:off x="1686785" y="2001396"/>
            <a:ext cx="22479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400" dirty="0">
                <a:solidFill>
                  <a:srgbClr val="333333"/>
                </a:solidFill>
                <a:latin typeface="Calibri" panose="020F0502020204030204" pitchFamily="34" charset="0"/>
              </a:rPr>
              <a:t>Actifs</a:t>
            </a:r>
            <a:r>
              <a:rPr lang="fr-FR" sz="1400" b="0" i="0" dirty="0">
                <a:solidFill>
                  <a:srgbClr val="47474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Activ</a:t>
            </a:r>
            <a:r>
              <a:rPr lang="fr-FR" sz="1400" dirty="0">
                <a:solidFill>
                  <a:srgbClr val="333333"/>
                </a:solidFill>
                <a:latin typeface="Calibri" panose="020F0502020204030204" pitchFamily="34" charset="0"/>
              </a:rPr>
              <a:t>es</a:t>
            </a:r>
            <a:endParaRPr lang="fr-FR" sz="1400" dirty="0"/>
          </a:p>
        </p:txBody>
      </p:sp>
      <p:sp>
        <p:nvSpPr>
          <p:cNvPr id="8" name="Flèche : chevron 7">
            <a:extLst>
              <a:ext uri="{FF2B5EF4-FFF2-40B4-BE49-F238E27FC236}">
                <a16:creationId xmlns:a16="http://schemas.microsoft.com/office/drawing/2014/main" id="{5FCA9762-BD0A-B943-12CC-3CC498AAA5E2}"/>
              </a:ext>
            </a:extLst>
          </p:cNvPr>
          <p:cNvSpPr/>
          <p:nvPr/>
        </p:nvSpPr>
        <p:spPr bwMode="auto">
          <a:xfrm>
            <a:off x="767407" y="1720181"/>
            <a:ext cx="3312369" cy="307777"/>
          </a:xfrm>
          <a:prstGeom prst="chevron">
            <a:avLst/>
          </a:prstGeom>
          <a:solidFill>
            <a:srgbClr val="0030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Enquêtes 2024 et 2025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0BFD7B0-A009-0640-A151-7F9FBFFD3DD0}"/>
              </a:ext>
            </a:extLst>
          </p:cNvPr>
          <p:cNvSpPr txBox="1"/>
          <p:nvPr/>
        </p:nvSpPr>
        <p:spPr>
          <a:xfrm>
            <a:off x="3287688" y="2615423"/>
            <a:ext cx="1294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Enquête 2025</a:t>
            </a:r>
          </a:p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Promo 2024</a:t>
            </a:r>
            <a:endParaRPr 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2B09F46-3B5A-23B3-21AE-F566686C20A7}"/>
              </a:ext>
            </a:extLst>
          </p:cNvPr>
          <p:cNvSpPr txBox="1"/>
          <p:nvPr/>
        </p:nvSpPr>
        <p:spPr>
          <a:xfrm>
            <a:off x="4852256" y="2595748"/>
            <a:ext cx="1294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Enquête 2025</a:t>
            </a:r>
          </a:p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CGE 2024</a:t>
            </a:r>
            <a:endParaRPr lang="fr-FR" sz="12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6C48D87-4DB0-FC43-E0AE-4FF1A05C4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12" y="3185396"/>
            <a:ext cx="5646088" cy="336036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E8A7F66-1973-802D-1848-2CD811580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112" y="5024362"/>
            <a:ext cx="4925705" cy="152139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6F58489-E5F7-5F22-8233-55BA11D2F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111" y="2615423"/>
            <a:ext cx="4925706" cy="197786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E70FDAB2-C9C3-1275-2807-A9A524A6CC95}"/>
              </a:ext>
            </a:extLst>
          </p:cNvPr>
          <p:cNvSpPr txBox="1"/>
          <p:nvPr/>
        </p:nvSpPr>
        <p:spPr>
          <a:xfrm>
            <a:off x="7085720" y="2001396"/>
            <a:ext cx="2754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Salaires bruts / en France</a:t>
            </a:r>
            <a:endParaRPr lang="fr-FR" sz="1200" dirty="0"/>
          </a:p>
        </p:txBody>
      </p:sp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92ADCC00-9D69-E5BF-FD12-3D3470F2DC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54449"/>
            <a:ext cx="4343400" cy="15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9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BC47A-3110-0D53-536A-05A110A8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D6D0CA-E782-DDA9-67D2-D34CE430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Enquête CGE / Chiffres clefs</a:t>
            </a:r>
          </a:p>
        </p:txBody>
      </p:sp>
      <p:sp>
        <p:nvSpPr>
          <p:cNvPr id="8" name="Flèche : chevron 7">
            <a:extLst>
              <a:ext uri="{FF2B5EF4-FFF2-40B4-BE49-F238E27FC236}">
                <a16:creationId xmlns:a16="http://schemas.microsoft.com/office/drawing/2014/main" id="{C99944F3-A3D5-996E-898B-13577C30476A}"/>
              </a:ext>
            </a:extLst>
          </p:cNvPr>
          <p:cNvSpPr/>
          <p:nvPr/>
        </p:nvSpPr>
        <p:spPr bwMode="auto">
          <a:xfrm>
            <a:off x="767407" y="1720181"/>
            <a:ext cx="3312369" cy="307777"/>
          </a:xfrm>
          <a:prstGeom prst="chevron">
            <a:avLst/>
          </a:prstGeom>
          <a:solidFill>
            <a:srgbClr val="0030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Situations professionnelles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AEB6DD5-F6D3-FE2F-C433-B7EF8408F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456" y="3735822"/>
            <a:ext cx="1152128" cy="2863861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EAA751B-0A1C-E0F9-3002-3FDEAEE6F7F9}"/>
              </a:ext>
            </a:extLst>
          </p:cNvPr>
          <p:cNvSpPr txBox="1"/>
          <p:nvPr/>
        </p:nvSpPr>
        <p:spPr>
          <a:xfrm>
            <a:off x="10313593" y="3310742"/>
            <a:ext cx="1294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Enquête 2020</a:t>
            </a:r>
          </a:p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Promo 2019</a:t>
            </a:r>
            <a:endParaRPr lang="fr-FR" sz="1200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917C83AA-2AE9-C1D0-59D6-69DA6C061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37" y="2852936"/>
            <a:ext cx="7420876" cy="3681611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975365F0-63C8-DA1F-4C4A-F316A7330F31}"/>
              </a:ext>
            </a:extLst>
          </p:cNvPr>
          <p:cNvSpPr txBox="1"/>
          <p:nvPr/>
        </p:nvSpPr>
        <p:spPr>
          <a:xfrm>
            <a:off x="767407" y="2594900"/>
            <a:ext cx="1294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rgbClr val="333333"/>
                </a:solidFill>
                <a:latin typeface="Calibri" panose="020F0502020204030204" pitchFamily="34" charset="0"/>
              </a:rPr>
              <a:t>Enquête 2025</a:t>
            </a:r>
            <a:endParaRPr lang="fr-FR" sz="1200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7681A4A8-E0BB-692F-CCA2-225E822DF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272" y="3772407"/>
            <a:ext cx="987969" cy="2762140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A90C12E8-E4AC-93BF-ADE0-AB067FF1FD78}"/>
              </a:ext>
            </a:extLst>
          </p:cNvPr>
          <p:cNvSpPr txBox="1"/>
          <p:nvPr/>
        </p:nvSpPr>
        <p:spPr>
          <a:xfrm>
            <a:off x="8634015" y="3310742"/>
            <a:ext cx="1294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Enquête 2024</a:t>
            </a:r>
          </a:p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Promo 2023</a:t>
            </a:r>
            <a:endParaRPr lang="fr-FR" sz="1200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4D59C6E-6AD8-71D2-D6BE-493FEBD67B51}"/>
              </a:ext>
            </a:extLst>
          </p:cNvPr>
          <p:cNvCxnSpPr>
            <a:cxnSpLocks/>
          </p:cNvCxnSpPr>
          <p:nvPr/>
        </p:nvCxnSpPr>
        <p:spPr bwMode="auto">
          <a:xfrm>
            <a:off x="6528048" y="3212976"/>
            <a:ext cx="0" cy="3321571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524164A6-C64F-2759-FD4D-C66B5FCBFE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54449"/>
            <a:ext cx="4343400" cy="15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61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7DC6F-D7A5-F951-A186-5435813B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98FFB-E368-C0A2-B82B-9BA3A567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Enquête CGE / Chiffres clefs</a:t>
            </a:r>
          </a:p>
        </p:txBody>
      </p:sp>
      <p:sp>
        <p:nvSpPr>
          <p:cNvPr id="6" name="Flèche : chevron 5">
            <a:extLst>
              <a:ext uri="{FF2B5EF4-FFF2-40B4-BE49-F238E27FC236}">
                <a16:creationId xmlns:a16="http://schemas.microsoft.com/office/drawing/2014/main" id="{E0196ED1-C40D-1713-5CB9-BFCFC6F61F3C}"/>
              </a:ext>
            </a:extLst>
          </p:cNvPr>
          <p:cNvSpPr/>
          <p:nvPr/>
        </p:nvSpPr>
        <p:spPr bwMode="auto">
          <a:xfrm>
            <a:off x="767408" y="1720181"/>
            <a:ext cx="2952328" cy="307777"/>
          </a:xfrm>
          <a:prstGeom prst="chevron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Taux net d’emploi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8F0472B-3326-E30D-BE3D-2602BAF3A3F3}"/>
              </a:ext>
            </a:extLst>
          </p:cNvPr>
          <p:cNvSpPr txBox="1"/>
          <p:nvPr/>
        </p:nvSpPr>
        <p:spPr>
          <a:xfrm>
            <a:off x="7104112" y="1412776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T = (En activité + Volontariat) / (En activité + Volontariat + Recherche)</a:t>
            </a:r>
            <a:endParaRPr lang="fr-FR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BDD62B-271E-88E0-618E-A09F51DEC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2244159"/>
            <a:ext cx="9192344" cy="459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4658502-28DC-4CBA-BED2-3C22A76AE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54449"/>
            <a:ext cx="4343400" cy="15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8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FFAA3-8069-C63D-EA58-3A67DBDB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30F4B3-54BE-EBEA-FC79-E41008238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Enquête CGE / Chiffres clefs</a:t>
            </a:r>
          </a:p>
        </p:txBody>
      </p:sp>
      <p:sp>
        <p:nvSpPr>
          <p:cNvPr id="6" name="Flèche : chevron 5">
            <a:extLst>
              <a:ext uri="{FF2B5EF4-FFF2-40B4-BE49-F238E27FC236}">
                <a16:creationId xmlns:a16="http://schemas.microsoft.com/office/drawing/2014/main" id="{301D189B-6B32-F133-B619-7ED25ED671C0}"/>
              </a:ext>
            </a:extLst>
          </p:cNvPr>
          <p:cNvSpPr/>
          <p:nvPr/>
        </p:nvSpPr>
        <p:spPr bwMode="auto">
          <a:xfrm>
            <a:off x="767408" y="1720181"/>
            <a:ext cx="2952328" cy="307777"/>
          </a:xfrm>
          <a:prstGeom prst="chevron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Taux net d’emploi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E307D8-A9A3-7F33-B8F9-2DCE04001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672" y="2321306"/>
            <a:ext cx="7060027" cy="221538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B3C753D-5B8B-DAD7-0F69-D6CA91296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2" y="5229200"/>
            <a:ext cx="7919508" cy="131474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4F979F8-01EA-6C89-60DE-30983E65F17D}"/>
              </a:ext>
            </a:extLst>
          </p:cNvPr>
          <p:cNvSpPr txBox="1"/>
          <p:nvPr/>
        </p:nvSpPr>
        <p:spPr>
          <a:xfrm>
            <a:off x="1559496" y="218280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333333"/>
                </a:solidFill>
                <a:latin typeface="Calibri" panose="020F0502020204030204" pitchFamily="34" charset="0"/>
              </a:rPr>
              <a:t>Le Monde – 25/06/2025</a:t>
            </a:r>
            <a:endParaRPr lang="fr-FR" sz="18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4D5219E-8898-72C0-DBB4-CE215B6A5161}"/>
              </a:ext>
            </a:extLst>
          </p:cNvPr>
          <p:cNvSpPr txBox="1"/>
          <p:nvPr/>
        </p:nvSpPr>
        <p:spPr>
          <a:xfrm>
            <a:off x="1559496" y="49411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333333"/>
                </a:solidFill>
                <a:latin typeface="Calibri" panose="020F0502020204030204" pitchFamily="34" charset="0"/>
              </a:rPr>
              <a:t>Rapport CGE - 2025</a:t>
            </a:r>
            <a:endParaRPr lang="fr-FR" sz="1800" dirty="0"/>
          </a:p>
        </p:txBody>
      </p:sp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767B376B-A9BD-BDA6-79EC-D8CB36F578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54449"/>
            <a:ext cx="4343400" cy="15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38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4652-9F7C-2545-49A5-03246BBF4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810DA8F7-248C-F343-D113-0366C1AEE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52" y="1459538"/>
            <a:ext cx="4086133" cy="204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808F95A-3C86-2D74-A465-09F87941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Enquête CGE / Chiffres clefs</a:t>
            </a:r>
          </a:p>
        </p:txBody>
      </p:sp>
      <p:sp>
        <p:nvSpPr>
          <p:cNvPr id="7" name="Flèche : chevron 6">
            <a:extLst>
              <a:ext uri="{FF2B5EF4-FFF2-40B4-BE49-F238E27FC236}">
                <a16:creationId xmlns:a16="http://schemas.microsoft.com/office/drawing/2014/main" id="{896B4885-1579-828B-DF7C-1FDA7C171905}"/>
              </a:ext>
            </a:extLst>
          </p:cNvPr>
          <p:cNvSpPr/>
          <p:nvPr/>
        </p:nvSpPr>
        <p:spPr bwMode="auto">
          <a:xfrm>
            <a:off x="767407" y="1720181"/>
            <a:ext cx="3312369" cy="307777"/>
          </a:xfrm>
          <a:prstGeom prst="chevron">
            <a:avLst/>
          </a:prstGeom>
          <a:solidFill>
            <a:srgbClr val="0030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Recherche d’emploi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ECE768B-52A8-7677-F081-96BCF6247B22}"/>
              </a:ext>
            </a:extLst>
          </p:cNvPr>
          <p:cNvSpPr/>
          <p:nvPr/>
        </p:nvSpPr>
        <p:spPr bwMode="auto">
          <a:xfrm>
            <a:off x="6248477" y="2564903"/>
            <a:ext cx="2195851" cy="461665"/>
          </a:xfrm>
          <a:prstGeom prst="round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MS PGothic" pitchFamily="34" charset="-128"/>
              </a:rPr>
              <a:t>Pause / Attente</a:t>
            </a:r>
            <a:endParaRPr kumimoji="0" lang="fr-FR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821BCA6-878A-7B20-2149-6ACC99A9931D}"/>
              </a:ext>
            </a:extLst>
          </p:cNvPr>
          <p:cNvSpPr/>
          <p:nvPr/>
        </p:nvSpPr>
        <p:spPr bwMode="auto">
          <a:xfrm>
            <a:off x="1028159" y="2564904"/>
            <a:ext cx="2214377" cy="461665"/>
          </a:xfrm>
          <a:prstGeom prst="round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MS PGothic" pitchFamily="34" charset="-128"/>
              </a:rPr>
              <a:t>Refus Proposition</a:t>
            </a:r>
            <a:endParaRPr kumimoji="0" lang="fr-FR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A7ABC0E-9FBF-A0F3-50A8-8BAF68875DD8}"/>
              </a:ext>
            </a:extLst>
          </p:cNvPr>
          <p:cNvSpPr/>
          <p:nvPr/>
        </p:nvSpPr>
        <p:spPr bwMode="auto">
          <a:xfrm>
            <a:off x="3638318" y="2564904"/>
            <a:ext cx="2214377" cy="461665"/>
          </a:xfrm>
          <a:prstGeom prst="round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MS PGothic" pitchFamily="34" charset="-128"/>
              </a:rPr>
              <a:t>Aucune Proposition</a:t>
            </a:r>
            <a:endParaRPr kumimoji="0" lang="fr-FR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3D91B9A-C0F7-D1D3-0499-B590A1524DBD}"/>
              </a:ext>
            </a:extLst>
          </p:cNvPr>
          <p:cNvSpPr txBox="1"/>
          <p:nvPr/>
        </p:nvSpPr>
        <p:spPr>
          <a:xfrm>
            <a:off x="1028159" y="3166691"/>
            <a:ext cx="23042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Pas d’intérêt pour les </a:t>
            </a:r>
            <a:r>
              <a:rPr lang="fr-FR" b="1" dirty="0">
                <a:solidFill>
                  <a:srgbClr val="333333"/>
                </a:solidFill>
                <a:latin typeface="Calibri" panose="020F0502020204030204" pitchFamily="34" charset="0"/>
              </a:rPr>
              <a:t>missions proposées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Discordance avec </a:t>
            </a:r>
            <a:r>
              <a:rPr lang="fr-FR" b="1" dirty="0">
                <a:solidFill>
                  <a:srgbClr val="333333"/>
                </a:solidFill>
                <a:latin typeface="Calibri" panose="020F0502020204030204" pitchFamily="34" charset="0"/>
              </a:rPr>
              <a:t>projet professionnel</a:t>
            </a:r>
            <a:endParaRPr lang="fr-FR" dirty="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51C4D9B-72C7-4C3F-89F2-4C299C911059}"/>
              </a:ext>
            </a:extLst>
          </p:cNvPr>
          <p:cNvSpPr txBox="1"/>
          <p:nvPr/>
        </p:nvSpPr>
        <p:spPr>
          <a:xfrm>
            <a:off x="1028159" y="5011973"/>
            <a:ext cx="20162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b="1" dirty="0">
                <a:solidFill>
                  <a:srgbClr val="333333"/>
                </a:solidFill>
                <a:latin typeface="Calibri" panose="020F0502020204030204" pitchFamily="34" charset="0"/>
              </a:rPr>
              <a:t>Rémunération</a:t>
            </a:r>
          </a:p>
        </p:txBody>
      </p:sp>
      <p:sp>
        <p:nvSpPr>
          <p:cNvPr id="19" name="Rectangle : avec coins arrondis en diagonale 18">
            <a:extLst>
              <a:ext uri="{FF2B5EF4-FFF2-40B4-BE49-F238E27FC236}">
                <a16:creationId xmlns:a16="http://schemas.microsoft.com/office/drawing/2014/main" id="{77313E7D-9314-71C9-90BC-227FEC757F1F}"/>
              </a:ext>
            </a:extLst>
          </p:cNvPr>
          <p:cNvSpPr/>
          <p:nvPr/>
        </p:nvSpPr>
        <p:spPr bwMode="auto">
          <a:xfrm>
            <a:off x="1127235" y="4430102"/>
            <a:ext cx="2016224" cy="395677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305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rPr>
              <a:t>SENS A LEUR EMPLOI</a:t>
            </a:r>
            <a:endParaRPr kumimoji="0" lang="fr-FR" sz="1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6FC8540-DD3E-2732-BDC5-1B3CB8069DCF}"/>
              </a:ext>
            </a:extLst>
          </p:cNvPr>
          <p:cNvSpPr txBox="1"/>
          <p:nvPr/>
        </p:nvSpPr>
        <p:spPr>
          <a:xfrm>
            <a:off x="1028159" y="5568691"/>
            <a:ext cx="24080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Mobilité géographique</a:t>
            </a:r>
          </a:p>
        </p:txBody>
      </p:sp>
      <p:sp>
        <p:nvSpPr>
          <p:cNvPr id="4" name="Rectangle : avec coins arrondis en diagonale 3">
            <a:extLst>
              <a:ext uri="{FF2B5EF4-FFF2-40B4-BE49-F238E27FC236}">
                <a16:creationId xmlns:a16="http://schemas.microsoft.com/office/drawing/2014/main" id="{218C3AB8-0DEC-B0A6-15CD-D86E6CEECC46}"/>
              </a:ext>
            </a:extLst>
          </p:cNvPr>
          <p:cNvSpPr/>
          <p:nvPr/>
        </p:nvSpPr>
        <p:spPr bwMode="auto">
          <a:xfrm>
            <a:off x="1224068" y="6000349"/>
            <a:ext cx="2016224" cy="519935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305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rPr>
              <a:t>ATTACHEMENT TERROTORIAL</a:t>
            </a:r>
            <a:endParaRPr kumimoji="0" lang="fr-FR" sz="1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97379B8-6FF6-0442-CA49-0A02A7FA0925}"/>
              </a:ext>
            </a:extLst>
          </p:cNvPr>
          <p:cNvSpPr txBox="1"/>
          <p:nvPr/>
        </p:nvSpPr>
        <p:spPr>
          <a:xfrm>
            <a:off x="4026091" y="3859018"/>
            <a:ext cx="40861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Difficultés de mise en valeur des compétences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Méconnaissance des débouchés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Mauvaise maitrise des techniques d’embauche</a:t>
            </a:r>
          </a:p>
        </p:txBody>
      </p:sp>
      <p:sp>
        <p:nvSpPr>
          <p:cNvPr id="8" name="Rectangle : avec coins arrondis en diagonale 7">
            <a:extLst>
              <a:ext uri="{FF2B5EF4-FFF2-40B4-BE49-F238E27FC236}">
                <a16:creationId xmlns:a16="http://schemas.microsoft.com/office/drawing/2014/main" id="{3FEB1895-0F93-B847-B38F-B8CF7EAC015F}"/>
              </a:ext>
            </a:extLst>
          </p:cNvPr>
          <p:cNvSpPr/>
          <p:nvPr/>
        </p:nvSpPr>
        <p:spPr bwMode="auto">
          <a:xfrm>
            <a:off x="4079776" y="5242527"/>
            <a:ext cx="3528392" cy="338555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305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rPr>
              <a:t>MANQUE DANS LA FORMATION IOGS ?</a:t>
            </a:r>
            <a:endParaRPr kumimoji="0" lang="fr-FR" sz="1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5" name="Image 4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526263A2-C403-DF7A-FB17-3289BD419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54449"/>
            <a:ext cx="4343400" cy="15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20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3355-3FC6-D1AB-F105-EFE9C5B41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19198A-2656-4A19-0243-AF5AD844F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Enquête CGE / Chiffres clefs</a:t>
            </a:r>
          </a:p>
        </p:txBody>
      </p:sp>
      <p:sp>
        <p:nvSpPr>
          <p:cNvPr id="7" name="Flèche : chevron 6">
            <a:extLst>
              <a:ext uri="{FF2B5EF4-FFF2-40B4-BE49-F238E27FC236}">
                <a16:creationId xmlns:a16="http://schemas.microsoft.com/office/drawing/2014/main" id="{C0BE5861-8396-2A21-ADE6-7418E4397C88}"/>
              </a:ext>
            </a:extLst>
          </p:cNvPr>
          <p:cNvSpPr/>
          <p:nvPr/>
        </p:nvSpPr>
        <p:spPr bwMode="auto">
          <a:xfrm>
            <a:off x="767407" y="1720181"/>
            <a:ext cx="3312369" cy="307777"/>
          </a:xfrm>
          <a:prstGeom prst="chevron">
            <a:avLst/>
          </a:prstGeom>
          <a:solidFill>
            <a:srgbClr val="0030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Recherche d’emploi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09ED379-87A4-5A85-1FB1-D7C634E6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768" y="2276872"/>
            <a:ext cx="7919508" cy="1314742"/>
          </a:xfrm>
          <a:prstGeom prst="rect">
            <a:avLst/>
          </a:prstGeom>
        </p:spPr>
      </p:pic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9CA6B61-3985-D0AE-6413-6EBC74638C47}"/>
              </a:ext>
            </a:extLst>
          </p:cNvPr>
          <p:cNvSpPr/>
          <p:nvPr/>
        </p:nvSpPr>
        <p:spPr bwMode="auto">
          <a:xfrm>
            <a:off x="9048328" y="1585795"/>
            <a:ext cx="2214377" cy="461665"/>
          </a:xfrm>
          <a:prstGeom prst="round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MS PGothic" pitchFamily="34" charset="-128"/>
              </a:rPr>
              <a:t>Rapport CGE 2025</a:t>
            </a:r>
            <a:endParaRPr kumimoji="0" lang="fr-FR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E9DEAA97-9401-4384-1D65-E2B188C48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902" y="3704213"/>
            <a:ext cx="5210852" cy="313332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C2785EA9-3E5D-E09C-5663-5FE16F715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92" y="3919100"/>
            <a:ext cx="3600400" cy="2747969"/>
          </a:xfrm>
          <a:prstGeom prst="rect">
            <a:avLst/>
          </a:prstGeom>
        </p:spPr>
      </p:pic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3A0E8A7B-B5A7-CDF6-71B9-E73D504CE4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54449"/>
            <a:ext cx="4343400" cy="15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04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01512-AFF4-EBFD-6687-F24BC114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9D3050-BF33-8142-37EF-39811DF92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Enquête CGE / Chiffres clefs</a:t>
            </a:r>
          </a:p>
        </p:txBody>
      </p:sp>
      <p:sp>
        <p:nvSpPr>
          <p:cNvPr id="7" name="Flèche : chevron 6">
            <a:extLst>
              <a:ext uri="{FF2B5EF4-FFF2-40B4-BE49-F238E27FC236}">
                <a16:creationId xmlns:a16="http://schemas.microsoft.com/office/drawing/2014/main" id="{337524C9-C744-5D4D-6C04-18B1020A8FD8}"/>
              </a:ext>
            </a:extLst>
          </p:cNvPr>
          <p:cNvSpPr/>
          <p:nvPr/>
        </p:nvSpPr>
        <p:spPr bwMode="auto">
          <a:xfrm>
            <a:off x="767407" y="1720181"/>
            <a:ext cx="3312369" cy="307777"/>
          </a:xfrm>
          <a:prstGeom prst="chevron">
            <a:avLst/>
          </a:prstGeom>
          <a:solidFill>
            <a:srgbClr val="0030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Apprentis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491F0FC-C933-445B-ACC4-1B44F5D45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276" y="1828231"/>
            <a:ext cx="3354685" cy="2604569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5530B23-D754-3773-1D76-695B1B73C3C5}"/>
              </a:ext>
            </a:extLst>
          </p:cNvPr>
          <p:cNvSpPr/>
          <p:nvPr/>
        </p:nvSpPr>
        <p:spPr bwMode="auto">
          <a:xfrm>
            <a:off x="3903987" y="2204864"/>
            <a:ext cx="1683040" cy="307777"/>
          </a:xfrm>
          <a:prstGeom prst="round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MS PGothic" pitchFamily="34" charset="-128"/>
              </a:rPr>
              <a:t>FISA</a:t>
            </a:r>
            <a:endParaRPr kumimoji="0" lang="fr-FR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3ECD837-BB02-3682-5C40-FD0A8F5CCE2F}"/>
              </a:ext>
            </a:extLst>
          </p:cNvPr>
          <p:cNvSpPr txBox="1"/>
          <p:nvPr/>
        </p:nvSpPr>
        <p:spPr>
          <a:xfrm>
            <a:off x="1487488" y="2693504"/>
            <a:ext cx="1728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En activité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6E9CF98-99D8-D552-7E5D-A415B26737A5}"/>
              </a:ext>
            </a:extLst>
          </p:cNvPr>
          <p:cNvSpPr txBox="1"/>
          <p:nvPr/>
        </p:nvSpPr>
        <p:spPr>
          <a:xfrm>
            <a:off x="1487488" y="3109623"/>
            <a:ext cx="216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En recherche emploi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62411E9-4359-0328-BD60-365109B028CE}"/>
              </a:ext>
            </a:extLst>
          </p:cNvPr>
          <p:cNvSpPr txBox="1"/>
          <p:nvPr/>
        </p:nvSpPr>
        <p:spPr>
          <a:xfrm>
            <a:off x="1487488" y="3469070"/>
            <a:ext cx="216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En thèse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B20AB41-461B-19D3-C7EE-EA408B5C92A8}"/>
              </a:ext>
            </a:extLst>
          </p:cNvPr>
          <p:cNvSpPr txBox="1"/>
          <p:nvPr/>
        </p:nvSpPr>
        <p:spPr>
          <a:xfrm>
            <a:off x="1487488" y="3828517"/>
            <a:ext cx="2160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En études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16B1552-0940-3EDB-617C-D9EDDCE69138}"/>
              </a:ext>
            </a:extLst>
          </p:cNvPr>
          <p:cNvSpPr txBox="1"/>
          <p:nvPr/>
        </p:nvSpPr>
        <p:spPr>
          <a:xfrm>
            <a:off x="1127448" y="2032920"/>
            <a:ext cx="3096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333333"/>
                </a:solidFill>
                <a:latin typeface="Calibri" panose="020F0502020204030204" pitchFamily="34" charset="0"/>
              </a:rPr>
              <a:t>11 réponses / 84        -  13 %</a:t>
            </a:r>
            <a:endParaRPr lang="fr-FR" sz="1400" b="1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1BCEF54-DE03-C923-7EBC-CBD077C1443E}"/>
              </a:ext>
            </a:extLst>
          </p:cNvPr>
          <p:cNvSpPr txBox="1"/>
          <p:nvPr/>
        </p:nvSpPr>
        <p:spPr>
          <a:xfrm>
            <a:off x="3935760" y="2636912"/>
            <a:ext cx="1728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4 / 11         36 %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84D1305-FB7D-9901-0C64-3EB16298EDF8}"/>
              </a:ext>
            </a:extLst>
          </p:cNvPr>
          <p:cNvSpPr txBox="1"/>
          <p:nvPr/>
        </p:nvSpPr>
        <p:spPr>
          <a:xfrm>
            <a:off x="3935760" y="3130516"/>
            <a:ext cx="1728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2 / 11         18 %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285AA45-802F-0804-5E37-CC75AFA64442}"/>
              </a:ext>
            </a:extLst>
          </p:cNvPr>
          <p:cNvSpPr txBox="1"/>
          <p:nvPr/>
        </p:nvSpPr>
        <p:spPr>
          <a:xfrm>
            <a:off x="3935760" y="3489963"/>
            <a:ext cx="1728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4 / 11 	36 %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60DFADF-C1D0-7CC1-A422-4D0AB6464E15}"/>
              </a:ext>
            </a:extLst>
          </p:cNvPr>
          <p:cNvSpPr txBox="1"/>
          <p:nvPr/>
        </p:nvSpPr>
        <p:spPr>
          <a:xfrm>
            <a:off x="3935760" y="3868509"/>
            <a:ext cx="1728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1 / 11	9%</a:t>
            </a:r>
            <a:endParaRPr lang="fr-FR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DE9C475-8533-0ED6-EA2A-6E6A9B34260F}"/>
              </a:ext>
            </a:extLst>
          </p:cNvPr>
          <p:cNvSpPr/>
          <p:nvPr/>
        </p:nvSpPr>
        <p:spPr bwMode="auto">
          <a:xfrm>
            <a:off x="6114323" y="2204864"/>
            <a:ext cx="1683040" cy="307777"/>
          </a:xfrm>
          <a:prstGeom prst="round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MS PGothic" pitchFamily="34" charset="-128"/>
              </a:rPr>
              <a:t>FISE</a:t>
            </a:r>
            <a:endParaRPr kumimoji="0" lang="fr-FR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877A7E1-38B4-E6DC-B21A-7AAA6B9C95A4}"/>
              </a:ext>
            </a:extLst>
          </p:cNvPr>
          <p:cNvSpPr txBox="1"/>
          <p:nvPr/>
        </p:nvSpPr>
        <p:spPr>
          <a:xfrm>
            <a:off x="6101138" y="2637819"/>
            <a:ext cx="1728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27 / 73         37 %</a:t>
            </a:r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E3F092C-5DB9-1F0B-1597-F6805A201070}"/>
              </a:ext>
            </a:extLst>
          </p:cNvPr>
          <p:cNvSpPr txBox="1"/>
          <p:nvPr/>
        </p:nvSpPr>
        <p:spPr>
          <a:xfrm>
            <a:off x="6096000" y="3109623"/>
            <a:ext cx="1728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10 / 73         14 %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CBB299B-6596-6D44-5FBF-5532E0C99F37}"/>
              </a:ext>
            </a:extLst>
          </p:cNvPr>
          <p:cNvSpPr txBox="1"/>
          <p:nvPr/>
        </p:nvSpPr>
        <p:spPr>
          <a:xfrm>
            <a:off x="6114323" y="3494831"/>
            <a:ext cx="1728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26 / 73         36 %</a:t>
            </a:r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30CEF54-18EB-A43B-0BB3-6E470E7C33E5}"/>
              </a:ext>
            </a:extLst>
          </p:cNvPr>
          <p:cNvSpPr txBox="1"/>
          <p:nvPr/>
        </p:nvSpPr>
        <p:spPr>
          <a:xfrm>
            <a:off x="6102099" y="3880947"/>
            <a:ext cx="1728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9 / 73         	  12 %</a:t>
            </a:r>
            <a:endParaRPr lang="fr-FR" dirty="0"/>
          </a:p>
        </p:txBody>
      </p:sp>
      <p:sp>
        <p:nvSpPr>
          <p:cNvPr id="23" name="Flèche : chevron 22">
            <a:extLst>
              <a:ext uri="{FF2B5EF4-FFF2-40B4-BE49-F238E27FC236}">
                <a16:creationId xmlns:a16="http://schemas.microsoft.com/office/drawing/2014/main" id="{C4C1AA5B-08FD-B444-C062-C87F610DE724}"/>
              </a:ext>
            </a:extLst>
          </p:cNvPr>
          <p:cNvSpPr/>
          <p:nvPr/>
        </p:nvSpPr>
        <p:spPr bwMode="auto">
          <a:xfrm>
            <a:off x="767406" y="4797152"/>
            <a:ext cx="3312369" cy="307777"/>
          </a:xfrm>
          <a:prstGeom prst="chevron">
            <a:avLst/>
          </a:prstGeom>
          <a:solidFill>
            <a:srgbClr val="0030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Thèses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5394560-3665-1B94-E47C-65C98D57F842}"/>
              </a:ext>
            </a:extLst>
          </p:cNvPr>
          <p:cNvSpPr txBox="1"/>
          <p:nvPr/>
        </p:nvSpPr>
        <p:spPr>
          <a:xfrm>
            <a:off x="4566151" y="1686406"/>
            <a:ext cx="3096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333333"/>
                </a:solidFill>
                <a:latin typeface="Calibri" panose="020F0502020204030204" pitchFamily="34" charset="0"/>
              </a:rPr>
              <a:t>100% en France (thèses et activité prof.)</a:t>
            </a:r>
            <a:endParaRPr lang="fr-FR" sz="14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7DD2768-28F1-E5D6-23B4-60934FC70C50}"/>
              </a:ext>
            </a:extLst>
          </p:cNvPr>
          <p:cNvSpPr txBox="1"/>
          <p:nvPr/>
        </p:nvSpPr>
        <p:spPr>
          <a:xfrm>
            <a:off x="1559494" y="5949280"/>
            <a:ext cx="8136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3 / 30 	à l’</a:t>
            </a:r>
            <a:r>
              <a:rPr lang="fr-FR" b="1" dirty="0">
                <a:solidFill>
                  <a:srgbClr val="333333"/>
                </a:solidFill>
                <a:latin typeface="Calibri" panose="020F0502020204030204" pitchFamily="34" charset="0"/>
              </a:rPr>
              <a:t>étranger</a:t>
            </a: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   (2x Japon, 1x Danemark)		</a:t>
            </a:r>
            <a:r>
              <a:rPr lang="fr-FR" b="1" dirty="0">
                <a:solidFill>
                  <a:schemeClr val="bg1"/>
                </a:solidFill>
                <a:highlight>
                  <a:srgbClr val="222268"/>
                </a:highlight>
                <a:latin typeface="Calibri" panose="020F0502020204030204" pitchFamily="34" charset="0"/>
              </a:rPr>
              <a:t> 14,7 %     CGE 2025 </a:t>
            </a:r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	</a:t>
            </a:r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23D78A2-4F52-C17D-D565-C4A7389ED652}"/>
              </a:ext>
            </a:extLst>
          </p:cNvPr>
          <p:cNvSpPr txBox="1"/>
          <p:nvPr/>
        </p:nvSpPr>
        <p:spPr>
          <a:xfrm>
            <a:off x="1559494" y="6258798"/>
            <a:ext cx="47525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2 LCF, 1 LHC, 1 LP2N</a:t>
            </a:r>
            <a:endParaRPr lang="fr-FR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B430199-A170-B95D-8909-0409B7FE0347}"/>
              </a:ext>
            </a:extLst>
          </p:cNvPr>
          <p:cNvSpPr txBox="1"/>
          <p:nvPr/>
        </p:nvSpPr>
        <p:spPr>
          <a:xfrm>
            <a:off x="1559494" y="5217122"/>
            <a:ext cx="47525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Calibri" panose="020F0502020204030204" pitchFamily="34" charset="0"/>
              </a:rPr>
              <a:t>30 / 84 	</a:t>
            </a:r>
            <a:r>
              <a:rPr lang="fr-FR" b="1" dirty="0">
                <a:solidFill>
                  <a:srgbClr val="333333"/>
                </a:solidFill>
                <a:latin typeface="Calibri" panose="020F0502020204030204" pitchFamily="34" charset="0"/>
              </a:rPr>
              <a:t>36 %              	 </a:t>
            </a:r>
            <a:r>
              <a:rPr lang="fr-FR" b="1" dirty="0">
                <a:solidFill>
                  <a:schemeClr val="bg1"/>
                </a:solidFill>
                <a:highlight>
                  <a:srgbClr val="222268"/>
                </a:highlight>
                <a:latin typeface="Calibri" panose="020F0502020204030204" pitchFamily="34" charset="0"/>
              </a:rPr>
              <a:t> 5,6 %     CGE 2025</a:t>
            </a:r>
            <a:endParaRPr lang="fr-FR" b="1" dirty="0">
              <a:solidFill>
                <a:schemeClr val="bg1"/>
              </a:solidFill>
              <a:highlight>
                <a:srgbClr val="222268"/>
              </a:highlight>
            </a:endParaRPr>
          </a:p>
        </p:txBody>
      </p:sp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6DCD0C29-7F1E-2C21-EC2F-F91513608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54449"/>
            <a:ext cx="4343400" cy="152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39409"/>
      </p:ext>
    </p:extLst>
  </p:cSld>
  <p:clrMapOvr>
    <a:masterClrMapping/>
  </p:clrMapOvr>
</p:sld>
</file>

<file path=ppt/theme/theme1.xml><?xml version="1.0" encoding="utf-8"?>
<a:theme xmlns:a="http://schemas.openxmlformats.org/drawingml/2006/main" name="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DRAFT PRES CA_IO_13-06-12</Template>
  <TotalTime>25640</TotalTime>
  <Words>420</Words>
  <Application>Microsoft Office PowerPoint</Application>
  <PresentationFormat>Grand écran</PresentationFormat>
  <Paragraphs>99</Paragraphs>
  <Slides>10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9" baseType="lpstr">
      <vt:lpstr>ＭＳ Ｐゴシック</vt:lpstr>
      <vt:lpstr>Arial</vt:lpstr>
      <vt:lpstr>Calibri</vt:lpstr>
      <vt:lpstr>Century Gothic</vt:lpstr>
      <vt:lpstr>Lucida Sans</vt:lpstr>
      <vt:lpstr>Raleway</vt:lpstr>
      <vt:lpstr>DRAFT PRES CA_IO_13-06-12</vt:lpstr>
      <vt:lpstr>1_DRAFT PRES CA_IO_13-06-12</vt:lpstr>
      <vt:lpstr>Image bitmap</vt:lpstr>
      <vt:lpstr>Insertion Professionnelle après SupOptique</vt:lpstr>
      <vt:lpstr>Enquête CGE / Processus</vt:lpstr>
      <vt:lpstr>Enquête CGE / Traitement interne</vt:lpstr>
      <vt:lpstr>Enquête CGE / Chiffres clefs</vt:lpstr>
      <vt:lpstr>Enquête CGE / Chiffres clefs</vt:lpstr>
      <vt:lpstr>Enquête CGE / Chiffres clefs</vt:lpstr>
      <vt:lpstr>Enquête CGE / Chiffres clefs</vt:lpstr>
      <vt:lpstr>Enquête CGE / Chiffres clefs</vt:lpstr>
      <vt:lpstr>Enquête CGE / Chiffres clefs</vt:lpstr>
      <vt:lpstr>Enquête CGE / Chiffres clefs</vt:lpstr>
    </vt:vector>
  </TitlesOfParts>
  <Company>Institut d'Optique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Institut d'Optique</dc:creator>
  <cp:lastModifiedBy>Julien VILLEMEJANE</cp:lastModifiedBy>
  <cp:revision>1424</cp:revision>
  <cp:lastPrinted>2021-12-20T13:30:17Z</cp:lastPrinted>
  <dcterms:created xsi:type="dcterms:W3CDTF">2012-05-10T13:56:34Z</dcterms:created>
  <dcterms:modified xsi:type="dcterms:W3CDTF">2025-11-13T08:17:43Z</dcterms:modified>
</cp:coreProperties>
</file>