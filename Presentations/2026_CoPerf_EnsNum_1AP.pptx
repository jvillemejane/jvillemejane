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4" r:id="rId2"/>
  </p:sldMasterIdLst>
  <p:notesMasterIdLst>
    <p:notesMasterId r:id="rId7"/>
  </p:notesMasterIdLst>
  <p:handoutMasterIdLst>
    <p:handoutMasterId r:id="rId8"/>
  </p:handoutMasterIdLst>
  <p:sldIdLst>
    <p:sldId id="325" r:id="rId3"/>
    <p:sldId id="326" r:id="rId4"/>
    <p:sldId id="324" r:id="rId5"/>
    <p:sldId id="327" r:id="rId6"/>
  </p:sldIdLst>
  <p:sldSz cx="12192000" cy="6858000"/>
  <p:notesSz cx="6797675" cy="992822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1pPr>
    <a:lvl2pPr marL="453586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2pPr>
    <a:lvl3pPr marL="910346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3pPr>
    <a:lvl4pPr marL="1367113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4pPr>
    <a:lvl5pPr marL="1823873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5pPr>
    <a:lvl6pPr marL="2283805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6pPr>
    <a:lvl7pPr marL="2740568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7pPr>
    <a:lvl8pPr marL="3197328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8pPr>
    <a:lvl9pPr marL="3654091" algn="l" defTabSz="456760" rtl="0" eaLnBrk="1" latinLnBrk="0" hangingPunct="1">
      <a:defRPr sz="1600" kern="1200">
        <a:solidFill>
          <a:schemeClr val="tx1"/>
        </a:solidFill>
        <a:latin typeface="Arial" charset="0"/>
        <a:ea typeface="MS PGothic" charset="0"/>
        <a:cs typeface="MS PGothic" charset="0"/>
      </a:defRPr>
    </a:lvl9pPr>
  </p:defaultTextStyle>
  <p:extLst>
    <p:ext uri="{521415D9-36F7-43E2-AB2F-B90AF26B5E84}">
      <p14:sectionLst xmlns:p14="http://schemas.microsoft.com/office/powerpoint/2010/main">
        <p14:section name="Section par défaut" id="{6A6AAF0A-6CDB-6A4B-A404-BE18D9B0BA16}">
          <p14:sldIdLst>
            <p14:sldId id="325"/>
            <p14:sldId id="326"/>
            <p14:sldId id="324"/>
            <p14:sldId id="3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ylvie Retailleau" initials="SR" lastIdx="9" clrIdx="0"/>
  <p:cmAuthor id="2" name="Claire LARTIGUE" initials="CL" lastIdx="10" clrIdx="1"/>
  <p:cmAuthor id="3" name="Bouye Clementine" initials="BC" lastIdx="1" clrIdx="2">
    <p:extLst>
      <p:ext uri="{19B8F6BF-5375-455C-9EA6-DF929625EA0E}">
        <p15:presenceInfo xmlns:p15="http://schemas.microsoft.com/office/powerpoint/2012/main" userId="S-1-5-21-2844717677-1882146966-2427725951-285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B0F0"/>
    <a:srgbClr val="7030A0"/>
    <a:srgbClr val="FFFFFF"/>
    <a:srgbClr val="FF960A"/>
    <a:srgbClr val="0A3250"/>
    <a:srgbClr val="222268"/>
    <a:srgbClr val="00305E"/>
    <a:srgbClr val="272771"/>
    <a:srgbClr val="FA960A"/>
    <a:srgbClr val="CBE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39" autoAdjust="0"/>
    <p:restoredTop sz="96395" autoAdjust="0"/>
  </p:normalViewPr>
  <p:slideViewPr>
    <p:cSldViewPr>
      <p:cViewPr varScale="1">
        <p:scale>
          <a:sx n="83" d="100"/>
          <a:sy n="83" d="100"/>
        </p:scale>
        <p:origin x="528" y="90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56" d="100"/>
          <a:sy n="156" d="100"/>
        </p:scale>
        <p:origin x="7648" y="19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505200" y="9431340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FE5C97D-F4A4-3148-9D69-08ACA8026603}" type="slidenum">
              <a:rPr lang="fr-FR"/>
              <a:pPr/>
              <a:t>‹N°›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29751"/>
            <a:ext cx="2946400" cy="496888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0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r>
              <a:rPr lang="fr-FR" dirty="0"/>
              <a:t>CA IOGS 20 décembre 2018</a:t>
            </a:r>
          </a:p>
        </p:txBody>
      </p:sp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4510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Arial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2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9202EF97-A5BF-E644-B5D7-99A720C3808E}" type="datetimeFigureOut">
              <a:rPr lang="fr-FR"/>
              <a:pPr/>
              <a:t>12/02/2026</a:t>
            </a:fld>
            <a:endParaRPr lang="fr-FR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5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40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5D8CFC6-2EE8-4043-8C44-71F3876B9617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885409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1pPr>
    <a:lvl2pPr marL="45358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2pPr>
    <a:lvl3pPr marL="91034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3pPr>
    <a:lvl4pPr marL="13671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4pPr>
    <a:lvl5pPr marL="182387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5pPr>
    <a:lvl6pPr marL="2282113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38534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4959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1381" algn="l" defTabSz="91284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0" y="2130441"/>
            <a:ext cx="10363200" cy="147002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2400"/>
            </a:lvl1pPr>
            <a:lvl2pPr marL="456425" indent="0" algn="ctr">
              <a:buNone/>
              <a:defRPr/>
            </a:lvl2pPr>
            <a:lvl3pPr marL="912843" indent="0" algn="ctr">
              <a:buNone/>
              <a:defRPr/>
            </a:lvl3pPr>
            <a:lvl4pPr marL="1369266" indent="0" algn="ctr">
              <a:buNone/>
              <a:defRPr/>
            </a:lvl4pPr>
            <a:lvl5pPr marL="1825691" indent="0" algn="ctr">
              <a:buNone/>
              <a:defRPr/>
            </a:lvl5pPr>
            <a:lvl6pPr marL="2282113" indent="0" algn="ctr">
              <a:buNone/>
              <a:defRPr/>
            </a:lvl6pPr>
            <a:lvl7pPr marL="2738534" indent="0" algn="ctr">
              <a:buNone/>
              <a:defRPr/>
            </a:lvl7pPr>
            <a:lvl8pPr marL="3194959" indent="0" algn="ctr">
              <a:buNone/>
              <a:defRPr/>
            </a:lvl8pPr>
            <a:lvl9pPr marL="3651381" indent="0" algn="ctr">
              <a:buNone/>
              <a:defRPr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14979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000"/>
            </a:lvl1pPr>
            <a:lvl2pPr marL="456425" indent="0">
              <a:buNone/>
              <a:defRPr sz="1800"/>
            </a:lvl2pPr>
            <a:lvl3pPr marL="912843" indent="0">
              <a:buNone/>
              <a:defRPr sz="1600"/>
            </a:lvl3pPr>
            <a:lvl4pPr marL="1369266" indent="0">
              <a:buNone/>
              <a:defRPr sz="1400"/>
            </a:lvl4pPr>
            <a:lvl5pPr marL="1825691" indent="0">
              <a:buNone/>
              <a:defRPr sz="1400"/>
            </a:lvl5pPr>
            <a:lvl6pPr marL="2282113" indent="0">
              <a:buNone/>
              <a:defRPr sz="1400"/>
            </a:lvl6pPr>
            <a:lvl7pPr marL="2738534" indent="0">
              <a:buNone/>
              <a:defRPr sz="1400"/>
            </a:lvl7pPr>
            <a:lvl8pPr marL="3194959" indent="0">
              <a:buNone/>
              <a:defRPr sz="1400"/>
            </a:lvl8pPr>
            <a:lvl9pPr marL="3651381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650190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00210"/>
            <a:ext cx="10972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396DA067-7B21-5AB8-7D7F-35A2AE9D41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9348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82767EA3-F885-2BAE-94AF-C911A1ED2D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5228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9" y="1535113"/>
            <a:ext cx="5386917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9" y="2174875"/>
            <a:ext cx="5386917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82" y="1535113"/>
            <a:ext cx="5389033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82" y="2174875"/>
            <a:ext cx="5389033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54EDA9F1-1622-BA93-CD33-B9056ADCE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8FD31D39-3427-05C6-6953-68C4777BD4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506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AD9F045A-12F5-AFC8-779C-6490CD83A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426997D4-9692-6DA4-0398-01E90E47CA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6844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61CD16E7-27E3-F2A0-53EA-7A1B96BA1BE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54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13" y="1546870"/>
            <a:ext cx="4011084" cy="80201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60"/>
            <a:ext cx="6815667" cy="585311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13" y="2348880"/>
            <a:ext cx="4011084" cy="3777285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4DC60A7D-FFC7-D6EE-8429-DD1DDFA904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944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389717" y="4806478"/>
            <a:ext cx="7315200" cy="566738"/>
          </a:xfrm>
          <a:prstGeom prst="rect">
            <a:avLst/>
          </a:prstGeom>
        </p:spPr>
        <p:txBody>
          <a:bodyPr anchor="ctr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1556793"/>
            <a:ext cx="7315200" cy="317078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3200"/>
            </a:lvl1pPr>
            <a:lvl2pPr marL="456425" indent="0">
              <a:buNone/>
              <a:defRPr sz="2800"/>
            </a:lvl2pPr>
            <a:lvl3pPr marL="912843" indent="0">
              <a:buNone/>
              <a:defRPr sz="2400"/>
            </a:lvl3pPr>
            <a:lvl4pPr marL="1369266" indent="0">
              <a:buNone/>
              <a:defRPr sz="2000"/>
            </a:lvl4pPr>
            <a:lvl5pPr marL="1825691" indent="0">
              <a:buNone/>
              <a:defRPr sz="2000"/>
            </a:lvl5pPr>
            <a:lvl6pPr marL="2282113" indent="0">
              <a:buNone/>
              <a:defRPr sz="2000"/>
            </a:lvl6pPr>
            <a:lvl7pPr marL="2738534" indent="0">
              <a:buNone/>
              <a:defRPr sz="2000"/>
            </a:lvl7pPr>
            <a:lvl8pPr marL="3194959" indent="0">
              <a:buNone/>
              <a:defRPr sz="2000"/>
            </a:lvl8pPr>
            <a:lvl9pPr marL="3651381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393FDF41-01A4-C27F-699C-E054F7452F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8587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0" y="2130441"/>
            <a:ext cx="10363200" cy="147002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2400"/>
            </a:lvl1pPr>
            <a:lvl2pPr marL="456425" indent="0" algn="ctr">
              <a:buNone/>
              <a:defRPr/>
            </a:lvl2pPr>
            <a:lvl3pPr marL="912843" indent="0" algn="ctr">
              <a:buNone/>
              <a:defRPr/>
            </a:lvl3pPr>
            <a:lvl4pPr marL="1369266" indent="0" algn="ctr">
              <a:buNone/>
              <a:defRPr/>
            </a:lvl4pPr>
            <a:lvl5pPr marL="1825691" indent="0" algn="ctr">
              <a:buNone/>
              <a:defRPr/>
            </a:lvl5pPr>
            <a:lvl6pPr marL="2282113" indent="0" algn="ctr">
              <a:buNone/>
              <a:defRPr/>
            </a:lvl6pPr>
            <a:lvl7pPr marL="2738534" indent="0" algn="ctr">
              <a:buNone/>
              <a:defRPr/>
            </a:lvl7pPr>
            <a:lvl8pPr marL="3194959" indent="0" algn="ctr">
              <a:buNone/>
              <a:defRPr/>
            </a:lvl8pPr>
            <a:lvl9pPr marL="3651381" indent="0" algn="ctr">
              <a:buNone/>
              <a:defRPr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760495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000"/>
            </a:lvl1pPr>
            <a:lvl2pPr marL="456425" indent="0">
              <a:buNone/>
              <a:defRPr sz="1800"/>
            </a:lvl2pPr>
            <a:lvl3pPr marL="912843" indent="0">
              <a:buNone/>
              <a:defRPr sz="1600"/>
            </a:lvl3pPr>
            <a:lvl4pPr marL="1369266" indent="0">
              <a:buNone/>
              <a:defRPr sz="1400"/>
            </a:lvl4pPr>
            <a:lvl5pPr marL="1825691" indent="0">
              <a:buNone/>
              <a:defRPr sz="1400"/>
            </a:lvl5pPr>
            <a:lvl6pPr marL="2282113" indent="0">
              <a:buNone/>
              <a:defRPr sz="1400"/>
            </a:lvl6pPr>
            <a:lvl7pPr marL="2738534" indent="0">
              <a:buNone/>
              <a:defRPr sz="1400"/>
            </a:lvl7pPr>
            <a:lvl8pPr marL="3194959" indent="0">
              <a:buNone/>
              <a:defRPr sz="1400"/>
            </a:lvl8pPr>
            <a:lvl9pPr marL="3651381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997032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00210"/>
            <a:ext cx="10972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396DA067-7B21-5AB8-7D7F-35A2AE9D41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8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10"/>
            <a:ext cx="5384800" cy="452596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82767EA3-F885-2BAE-94AF-C911A1ED2D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678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9" y="1535113"/>
            <a:ext cx="5386917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9" y="2174875"/>
            <a:ext cx="5386917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82" y="1535113"/>
            <a:ext cx="5389033" cy="639762"/>
          </a:xfrm>
          <a:prstGeom prst="rect">
            <a:avLst/>
          </a:prstGeom>
        </p:spPr>
        <p:txBody>
          <a:bodyPr lIns="91284" tIns="45645" rIns="91284" bIns="45645" anchor="b"/>
          <a:lstStyle>
            <a:lvl1pPr marL="0" indent="0">
              <a:buNone/>
              <a:defRPr sz="2400" b="1"/>
            </a:lvl1pPr>
            <a:lvl2pPr marL="456425" indent="0">
              <a:buNone/>
              <a:defRPr sz="2000" b="1"/>
            </a:lvl2pPr>
            <a:lvl3pPr marL="912843" indent="0">
              <a:buNone/>
              <a:defRPr sz="1800" b="1"/>
            </a:lvl3pPr>
            <a:lvl4pPr marL="1369266" indent="0">
              <a:buNone/>
              <a:defRPr sz="1600" b="1"/>
            </a:lvl4pPr>
            <a:lvl5pPr marL="1825691" indent="0">
              <a:buNone/>
              <a:defRPr sz="1600" b="1"/>
            </a:lvl5pPr>
            <a:lvl6pPr marL="2282113" indent="0">
              <a:buNone/>
              <a:defRPr sz="1600" b="1"/>
            </a:lvl6pPr>
            <a:lvl7pPr marL="2738534" indent="0">
              <a:buNone/>
              <a:defRPr sz="1600" b="1"/>
            </a:lvl7pPr>
            <a:lvl8pPr marL="3194959" indent="0">
              <a:buNone/>
              <a:defRPr sz="1600" b="1"/>
            </a:lvl8pPr>
            <a:lvl9pPr marL="3651381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82" y="2174875"/>
            <a:ext cx="5389033" cy="3951288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54EDA9F1-1622-BA93-CD33-B9056ADCE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3871" y="404664"/>
            <a:ext cx="6638529" cy="685800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8FD31D39-3427-05C6-6953-68C4777BD4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5507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AD9F045A-12F5-AFC8-779C-6490CD83A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5507" y="404664"/>
            <a:ext cx="6836893" cy="685800"/>
          </a:xfrm>
          <a:prstGeom prst="rect">
            <a:avLst/>
          </a:prstGeom>
        </p:spPr>
        <p:txBody>
          <a:bodyPr anchor="ctr"/>
          <a:lstStyle>
            <a:lvl1pPr algn="r">
              <a:defRPr sz="2800" baseline="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426997D4-9692-6DA4-0398-01E90E47CA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3116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61CD16E7-27E3-F2A0-53EA-7A1B96BA1BE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797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13" y="1546870"/>
            <a:ext cx="4011084" cy="80201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60"/>
            <a:ext cx="6815667" cy="5853113"/>
          </a:xfrm>
          <a:prstGeom prst="rect">
            <a:avLst/>
          </a:prstGeom>
        </p:spPr>
        <p:txBody>
          <a:bodyPr lIns="91284" tIns="45645" rIns="91284" bIns="45645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13" y="2348880"/>
            <a:ext cx="4011084" cy="3777285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4DC60A7D-FFC7-D6EE-8429-DD1DDFA904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5473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389717" y="4806478"/>
            <a:ext cx="7315200" cy="566738"/>
          </a:xfrm>
          <a:prstGeom prst="rect">
            <a:avLst/>
          </a:prstGeom>
        </p:spPr>
        <p:txBody>
          <a:bodyPr anchor="ctr"/>
          <a:lstStyle>
            <a:lvl1pPr algn="l">
              <a:defRPr sz="2000" b="1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1556793"/>
            <a:ext cx="7315200" cy="317078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 algn="ctr">
              <a:buNone/>
              <a:defRPr sz="3200"/>
            </a:lvl1pPr>
            <a:lvl2pPr marL="456425" indent="0">
              <a:buNone/>
              <a:defRPr sz="2800"/>
            </a:lvl2pPr>
            <a:lvl3pPr marL="912843" indent="0">
              <a:buNone/>
              <a:defRPr sz="2400"/>
            </a:lvl3pPr>
            <a:lvl4pPr marL="1369266" indent="0">
              <a:buNone/>
              <a:defRPr sz="2000"/>
            </a:lvl4pPr>
            <a:lvl5pPr marL="1825691" indent="0">
              <a:buNone/>
              <a:defRPr sz="2000"/>
            </a:lvl5pPr>
            <a:lvl6pPr marL="2282113" indent="0">
              <a:buNone/>
              <a:defRPr sz="2000"/>
            </a:lvl6pPr>
            <a:lvl7pPr marL="2738534" indent="0">
              <a:buNone/>
              <a:defRPr sz="2000"/>
            </a:lvl7pPr>
            <a:lvl8pPr marL="3194959" indent="0">
              <a:buNone/>
              <a:defRPr sz="2000"/>
            </a:lvl8pPr>
            <a:lvl9pPr marL="3651381" indent="0">
              <a:buNone/>
              <a:defRPr sz="2000"/>
            </a:lvl9pPr>
          </a:lstStyle>
          <a:p>
            <a:pPr lv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 lIns="91284" tIns="45645" rIns="91284" bIns="45645"/>
          <a:lstStyle>
            <a:lvl1pPr marL="0" indent="0">
              <a:buNone/>
              <a:defRPr sz="1400"/>
            </a:lvl1pPr>
            <a:lvl2pPr marL="456425" indent="0">
              <a:buNone/>
              <a:defRPr sz="1200"/>
            </a:lvl2pPr>
            <a:lvl3pPr marL="912843" indent="0">
              <a:buNone/>
              <a:defRPr sz="1000"/>
            </a:lvl3pPr>
            <a:lvl4pPr marL="1369266" indent="0">
              <a:buNone/>
              <a:defRPr sz="900"/>
            </a:lvl4pPr>
            <a:lvl5pPr marL="1825691" indent="0">
              <a:buNone/>
              <a:defRPr sz="900"/>
            </a:lvl5pPr>
            <a:lvl6pPr marL="2282113" indent="0">
              <a:buNone/>
              <a:defRPr sz="900"/>
            </a:lvl6pPr>
            <a:lvl7pPr marL="2738534" indent="0">
              <a:buNone/>
              <a:defRPr sz="900"/>
            </a:lvl7pPr>
            <a:lvl8pPr marL="3194959" indent="0">
              <a:buNone/>
              <a:defRPr sz="900"/>
            </a:lvl8pPr>
            <a:lvl9pPr marL="3651381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393FDF41-01A4-C27F-699C-E054F7452F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62320" y="6381328"/>
            <a:ext cx="720080" cy="288032"/>
          </a:xfrm>
          <a:prstGeom prst="rect">
            <a:avLst/>
          </a:prstGeom>
          <a:ln/>
        </p:spPr>
        <p:txBody>
          <a:bodyPr lIns="91352" tIns="45680" rIns="91352" bIns="45680"/>
          <a:lstStyle>
            <a:lvl1pPr>
              <a:defRPr/>
            </a:lvl1pPr>
          </a:lstStyle>
          <a:p>
            <a:fld id="{883C3D88-8D27-E04A-93A4-C5B7506FCE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622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17"/>
          <p:cNvSpPr>
            <a:spLocks noChangeShapeType="1"/>
          </p:cNvSpPr>
          <p:nvPr userDrawn="1"/>
        </p:nvSpPr>
        <p:spPr bwMode="auto">
          <a:xfrm flipV="1">
            <a:off x="239349" y="2416"/>
            <a:ext cx="0" cy="6855586"/>
          </a:xfrm>
          <a:prstGeom prst="line">
            <a:avLst/>
          </a:prstGeom>
          <a:noFill/>
          <a:ln w="28575">
            <a:solidFill>
              <a:srgbClr val="FF960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/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id="{61E373B6-2243-184D-B77F-D316E77447A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80004" y="1"/>
            <a:ext cx="0" cy="6855585"/>
          </a:xfrm>
          <a:prstGeom prst="line">
            <a:avLst/>
          </a:prstGeom>
          <a:noFill/>
          <a:ln w="127000">
            <a:solidFill>
              <a:schemeClr val="accent6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 dirty="0"/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17" y="6326"/>
            <a:ext cx="4343623" cy="15240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ＭＳ Ｐゴシック" charset="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5pPr>
      <a:lvl6pPr marL="456425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6pPr>
      <a:lvl7pPr marL="912843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7pPr>
      <a:lvl8pPr marL="1369266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8pPr>
      <a:lvl9pPr marL="1825691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9pPr>
    </p:titleStyle>
    <p:bodyStyle>
      <a:lvl1pPr marL="339404" indent="-339404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rgbClr val="0A3250"/>
          </a:solidFill>
          <a:latin typeface="+mn-lt"/>
          <a:ea typeface="ＭＳ Ｐゴシック" charset="0"/>
          <a:cs typeface="+mn-cs"/>
        </a:defRPr>
      </a:lvl1pPr>
      <a:lvl2pPr marL="739064" indent="-282303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A3250"/>
          </a:solidFill>
          <a:latin typeface="+mn-lt"/>
          <a:ea typeface="ＭＳ Ｐゴシック" charset="0"/>
        </a:defRPr>
      </a:lvl2pPr>
      <a:lvl3pPr marL="1138731" indent="-225209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A3250"/>
          </a:solidFill>
          <a:latin typeface="+mn-lt"/>
          <a:ea typeface="ＭＳ Ｐゴシック" charset="0"/>
        </a:defRPr>
      </a:lvl3pPr>
      <a:lvl4pPr marL="1595491" indent="-225209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A3250"/>
          </a:solidFill>
          <a:latin typeface="+mn-lt"/>
          <a:ea typeface="ＭＳ Ｐゴシック" charset="0"/>
        </a:defRPr>
      </a:lvl4pPr>
      <a:lvl5pPr marL="2052252" indent="-225209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  <a:ea typeface="ＭＳ Ｐゴシック" charset="0"/>
        </a:defRPr>
      </a:lvl5pPr>
      <a:lvl6pPr marL="2510322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6pPr>
      <a:lvl7pPr marL="2966747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7pPr>
      <a:lvl8pPr marL="342316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8pPr>
      <a:lvl9pPr marL="387958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9pPr>
    </p:bodyStyle>
    <p:otherStyle>
      <a:defPPr>
        <a:defRPr lang="fr-FR"/>
      </a:defPPr>
      <a:lvl1pPr marL="0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425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84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266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69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1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534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4959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38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17"/>
          <p:cNvSpPr>
            <a:spLocks noChangeShapeType="1"/>
          </p:cNvSpPr>
          <p:nvPr userDrawn="1"/>
        </p:nvSpPr>
        <p:spPr bwMode="auto">
          <a:xfrm flipV="1">
            <a:off x="239349" y="2416"/>
            <a:ext cx="0" cy="6855586"/>
          </a:xfrm>
          <a:prstGeom prst="line">
            <a:avLst/>
          </a:prstGeom>
          <a:noFill/>
          <a:ln w="28575">
            <a:solidFill>
              <a:srgbClr val="FF960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/>
          </a:p>
        </p:txBody>
      </p:sp>
      <p:sp>
        <p:nvSpPr>
          <p:cNvPr id="13" name="Line 17">
            <a:extLst>
              <a:ext uri="{FF2B5EF4-FFF2-40B4-BE49-F238E27FC236}">
                <a16:creationId xmlns:a16="http://schemas.microsoft.com/office/drawing/2014/main" id="{61E373B6-2243-184D-B77F-D316E77447A1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80004" y="1"/>
            <a:ext cx="0" cy="6855585"/>
          </a:xfrm>
          <a:prstGeom prst="line">
            <a:avLst/>
          </a:prstGeom>
          <a:noFill/>
          <a:ln w="127000">
            <a:solidFill>
              <a:schemeClr val="accent6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600" dirty="0"/>
          </a:p>
        </p:txBody>
      </p:sp>
      <p:pic>
        <p:nvPicPr>
          <p:cNvPr id="8" name="Image 7" descr="Une image contenant texte, Police, logo, capture d’écran&#10;&#10;Description générée automatiquement">
            <a:extLst>
              <a:ext uri="{FF2B5EF4-FFF2-40B4-BE49-F238E27FC236}">
                <a16:creationId xmlns:a16="http://schemas.microsoft.com/office/drawing/2014/main" id="{694B1DE4-CB4F-B2D5-AF79-9F33FDB0F9A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01" y="290433"/>
            <a:ext cx="1725439" cy="95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087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ＭＳ Ｐゴシック" charset="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  <a:ea typeface="ＭＳ Ｐゴシック" charset="0"/>
        </a:defRPr>
      </a:lvl5pPr>
      <a:lvl6pPr marL="456425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6pPr>
      <a:lvl7pPr marL="912843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7pPr>
      <a:lvl8pPr marL="1369266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8pPr>
      <a:lvl9pPr marL="1825691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A3250"/>
          </a:solidFill>
          <a:effectLst>
            <a:outerShdw blurRad="38100" dist="38100" dir="2700000" algn="tl">
              <a:srgbClr val="C0C0C0"/>
            </a:outerShdw>
          </a:effectLst>
          <a:latin typeface="Century Gothic" pitchFamily="34" charset="0"/>
        </a:defRPr>
      </a:lvl9pPr>
    </p:titleStyle>
    <p:bodyStyle>
      <a:lvl1pPr marL="339404" indent="-339404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rgbClr val="0A3250"/>
          </a:solidFill>
          <a:latin typeface="+mn-lt"/>
          <a:ea typeface="ＭＳ Ｐゴシック" charset="0"/>
          <a:cs typeface="+mn-cs"/>
        </a:defRPr>
      </a:lvl1pPr>
      <a:lvl2pPr marL="739064" indent="-282303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A3250"/>
          </a:solidFill>
          <a:latin typeface="+mn-lt"/>
          <a:ea typeface="ＭＳ Ｐゴシック" charset="0"/>
        </a:defRPr>
      </a:lvl2pPr>
      <a:lvl3pPr marL="1138731" indent="-225209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A3250"/>
          </a:solidFill>
          <a:latin typeface="+mn-lt"/>
          <a:ea typeface="ＭＳ Ｐゴシック" charset="0"/>
        </a:defRPr>
      </a:lvl3pPr>
      <a:lvl4pPr marL="1595491" indent="-225209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A3250"/>
          </a:solidFill>
          <a:latin typeface="+mn-lt"/>
          <a:ea typeface="ＭＳ Ｐゴシック" charset="0"/>
        </a:defRPr>
      </a:lvl4pPr>
      <a:lvl5pPr marL="2052252" indent="-225209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  <a:ea typeface="ＭＳ Ｐゴシック" charset="0"/>
        </a:defRPr>
      </a:lvl5pPr>
      <a:lvl6pPr marL="2510322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6pPr>
      <a:lvl7pPr marL="2966747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7pPr>
      <a:lvl8pPr marL="342316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8pPr>
      <a:lvl9pPr marL="3879589" indent="-22821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A3250"/>
          </a:solidFill>
          <a:latin typeface="+mn-lt"/>
        </a:defRPr>
      </a:lvl9pPr>
    </p:bodyStyle>
    <p:otherStyle>
      <a:defPPr>
        <a:defRPr lang="fr-FR"/>
      </a:defPPr>
      <a:lvl1pPr marL="0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425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84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266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569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13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534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4959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381" algn="l" defTabSz="91284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2D4BB-8E88-DD2A-907A-2F4D188DF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E56CC5-FC74-913A-0679-02B9D3C97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14" y="287471"/>
            <a:ext cx="6836893" cy="685800"/>
          </a:xfrm>
        </p:spPr>
        <p:txBody>
          <a:bodyPr/>
          <a:lstStyle/>
          <a:p>
            <a:r>
              <a:rPr lang="fr-FR" sz="2400" dirty="0"/>
              <a:t>Programmation et méthodes numériques 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B3A64551-E548-9EFA-D4C9-151CEE360F23}"/>
              </a:ext>
            </a:extLst>
          </p:cNvPr>
          <p:cNvSpPr/>
          <p:nvPr/>
        </p:nvSpPr>
        <p:spPr bwMode="auto">
          <a:xfrm>
            <a:off x="6240016" y="1876763"/>
            <a:ext cx="4711265" cy="400109"/>
          </a:xfrm>
          <a:prstGeom prst="roundRect">
            <a:avLst>
              <a:gd name="adj" fmla="val 21199"/>
            </a:avLst>
          </a:prstGeom>
          <a:solidFill>
            <a:schemeClr val="bg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 w="57150">
                <a:solidFill>
                  <a:srgbClr val="7030A0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DD1A3BF2-0468-41F6-4E76-F9FC98C7C63C}"/>
              </a:ext>
            </a:extLst>
          </p:cNvPr>
          <p:cNvSpPr/>
          <p:nvPr/>
        </p:nvSpPr>
        <p:spPr bwMode="auto">
          <a:xfrm>
            <a:off x="861440" y="2378361"/>
            <a:ext cx="4521530" cy="401022"/>
          </a:xfrm>
          <a:prstGeom prst="roundRect">
            <a:avLst>
              <a:gd name="adj" fmla="val 13459"/>
            </a:avLst>
          </a:prstGeom>
          <a:solidFill>
            <a:schemeClr val="bg1"/>
          </a:solidFill>
          <a:ln w="127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>
              <a:ln w="57150">
                <a:solidFill>
                  <a:srgbClr val="7030A0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11" name="Flèche : chevron 10">
            <a:extLst>
              <a:ext uri="{FF2B5EF4-FFF2-40B4-BE49-F238E27FC236}">
                <a16:creationId xmlns:a16="http://schemas.microsoft.com/office/drawing/2014/main" id="{3476A0CB-9D70-26D3-5E62-8BBB5802C33F}"/>
              </a:ext>
            </a:extLst>
          </p:cNvPr>
          <p:cNvSpPr/>
          <p:nvPr/>
        </p:nvSpPr>
        <p:spPr bwMode="auto">
          <a:xfrm>
            <a:off x="695400" y="1826417"/>
            <a:ext cx="4687569" cy="368222"/>
          </a:xfrm>
          <a:prstGeom prst="chevron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ＭＳ Ｐゴシック" pitchFamily="1" charset="-128"/>
              </a:rPr>
              <a:t>Refonte en 2023 / 1A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1BEBA95F-670A-7CFB-2EA8-F68889847B6D}"/>
              </a:ext>
            </a:extLst>
          </p:cNvPr>
          <p:cNvSpPr txBox="1"/>
          <p:nvPr/>
        </p:nvSpPr>
        <p:spPr>
          <a:xfrm>
            <a:off x="839416" y="2391151"/>
            <a:ext cx="448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7030A0"/>
                </a:solidFill>
                <a:latin typeface="Raleway" pitchFamily="2" charset="0"/>
              </a:rPr>
              <a:t>Abandon du </a:t>
            </a:r>
            <a:r>
              <a:rPr lang="fr-FR" sz="1800" b="1" dirty="0">
                <a:solidFill>
                  <a:srgbClr val="7030A0"/>
                </a:solidFill>
                <a:latin typeface="Raleway" pitchFamily="2" charset="0"/>
              </a:rPr>
              <a:t>Langage C (bases) </a:t>
            </a:r>
            <a:endParaRPr lang="fr-FR" sz="1100" dirty="0">
              <a:solidFill>
                <a:srgbClr val="7030A0"/>
              </a:solidFill>
              <a:latin typeface="Raleway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D22A27-1A95-189A-AD5A-44EBEA96B4D3}"/>
              </a:ext>
            </a:extLst>
          </p:cNvPr>
          <p:cNvSpPr/>
          <p:nvPr/>
        </p:nvSpPr>
        <p:spPr bwMode="auto">
          <a:xfrm>
            <a:off x="6175058" y="904245"/>
            <a:ext cx="5760640" cy="45719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566201D3-0745-43D4-65B6-F6AF1BD35620}"/>
              </a:ext>
            </a:extLst>
          </p:cNvPr>
          <p:cNvSpPr txBox="1"/>
          <p:nvPr/>
        </p:nvSpPr>
        <p:spPr>
          <a:xfrm>
            <a:off x="1267004" y="2886546"/>
            <a:ext cx="41912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7030A0"/>
                </a:solidFill>
                <a:latin typeface="Raleway" pitchFamily="2" charset="0"/>
              </a:rPr>
              <a:t>Intérêts : proche machine / typage données / langage très structuré</a:t>
            </a:r>
            <a:endParaRPr lang="fr-FR" sz="1050" dirty="0">
              <a:solidFill>
                <a:srgbClr val="7030A0"/>
              </a:solidFill>
              <a:latin typeface="Raleway" pitchFamily="2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856BF27-1757-195C-1A4C-8B29119A2753}"/>
              </a:ext>
            </a:extLst>
          </p:cNvPr>
          <p:cNvSpPr/>
          <p:nvPr/>
        </p:nvSpPr>
        <p:spPr bwMode="auto">
          <a:xfrm flipV="1">
            <a:off x="1098208" y="3501008"/>
            <a:ext cx="4284761" cy="45719"/>
          </a:xfrm>
          <a:prstGeom prst="rect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64" name="Triangle rectangle 63">
            <a:extLst>
              <a:ext uri="{FF2B5EF4-FFF2-40B4-BE49-F238E27FC236}">
                <a16:creationId xmlns:a16="http://schemas.microsoft.com/office/drawing/2014/main" id="{BFF244B9-A34C-30C0-3ED7-CDC934DA7133}"/>
              </a:ext>
            </a:extLst>
          </p:cNvPr>
          <p:cNvSpPr/>
          <p:nvPr/>
        </p:nvSpPr>
        <p:spPr bwMode="auto">
          <a:xfrm rot="18972734">
            <a:off x="1276921" y="1997637"/>
            <a:ext cx="273933" cy="274161"/>
          </a:xfrm>
          <a:prstGeom prst="rtTriangle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31A0E4B-2F09-D0B2-4696-A888ACAB147A}"/>
              </a:ext>
            </a:extLst>
          </p:cNvPr>
          <p:cNvSpPr txBox="1"/>
          <p:nvPr/>
        </p:nvSpPr>
        <p:spPr>
          <a:xfrm>
            <a:off x="6440130" y="1884531"/>
            <a:ext cx="44881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Passage à </a:t>
            </a:r>
            <a:r>
              <a:rPr lang="fr-F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Python</a:t>
            </a:r>
            <a:endParaRPr lang="fr-FR" sz="1200" b="1" dirty="0">
              <a:solidFill>
                <a:schemeClr val="tx1">
                  <a:lumMod val="95000"/>
                  <a:lumOff val="5000"/>
                </a:schemeClr>
              </a:solidFill>
              <a:latin typeface="Raleway" pitchFamily="2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2E409C9-88B7-3614-AE08-64CF65E1EBD7}"/>
              </a:ext>
            </a:extLst>
          </p:cNvPr>
          <p:cNvSpPr txBox="1"/>
          <p:nvPr/>
        </p:nvSpPr>
        <p:spPr>
          <a:xfrm>
            <a:off x="6635281" y="2325281"/>
            <a:ext cx="41912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Intérêts : continuité avec BAC +2/3 / langage généraliste</a:t>
            </a:r>
            <a:endParaRPr lang="fr-FR" sz="1050" dirty="0">
              <a:solidFill>
                <a:schemeClr val="tx1">
                  <a:lumMod val="95000"/>
                  <a:lumOff val="5000"/>
                </a:schemeClr>
              </a:solidFill>
              <a:latin typeface="Raleway" pitchFamily="2" charset="0"/>
            </a:endParaRPr>
          </a:p>
        </p:txBody>
      </p:sp>
      <p:pic>
        <p:nvPicPr>
          <p:cNvPr id="10" name="Image 9" descr="Une image contenant text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6BAEFED2-E5F8-3426-B9CE-742CAEEFE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3947945"/>
            <a:ext cx="7411626" cy="2758267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2C5E7199-6B4B-CE86-805E-C6EAC10A7ECD}"/>
              </a:ext>
            </a:extLst>
          </p:cNvPr>
          <p:cNvSpPr txBox="1"/>
          <p:nvPr/>
        </p:nvSpPr>
        <p:spPr>
          <a:xfrm>
            <a:off x="263352" y="6474822"/>
            <a:ext cx="33265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2"/>
                </a:solidFill>
                <a:latin typeface="Raleway" pitchFamily="2" charset="0"/>
              </a:rPr>
              <a:t>Mini-Projet / Semestre 6</a:t>
            </a:r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5FAE628-03A4-4185-70FA-31DC3CFD7E89}"/>
              </a:ext>
            </a:extLst>
          </p:cNvPr>
          <p:cNvSpPr txBox="1"/>
          <p:nvPr/>
        </p:nvSpPr>
        <p:spPr>
          <a:xfrm>
            <a:off x="8112224" y="3178933"/>
            <a:ext cx="33518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Semestre 5  - 2 mini-projets</a:t>
            </a:r>
          </a:p>
          <a:p>
            <a:pPr marL="171450" indent="-171450">
              <a:buFontTx/>
              <a:buChar char="-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Retour sur les bases de programmation</a:t>
            </a:r>
          </a:p>
          <a:p>
            <a:pPr marL="171450" indent="-171450">
              <a:buFontTx/>
              <a:buChar char="-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Bibliothèques scientifiques de base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Matplotlib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716C246-B5B3-0AD9-6881-403C887B23B3}"/>
              </a:ext>
            </a:extLst>
          </p:cNvPr>
          <p:cNvSpPr txBox="1"/>
          <p:nvPr/>
        </p:nvSpPr>
        <p:spPr>
          <a:xfrm>
            <a:off x="8112224" y="4834546"/>
            <a:ext cx="33518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Semestre 6  - 1 mini-projet</a:t>
            </a:r>
          </a:p>
          <a:p>
            <a:pPr marL="171450" indent="-171450">
              <a:buFontTx/>
              <a:buChar char="-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Programmation orientée objet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3EEB139-1370-5BB1-7F31-E792A70BE89D}"/>
              </a:ext>
            </a:extLst>
          </p:cNvPr>
          <p:cNvSpPr txBox="1"/>
          <p:nvPr/>
        </p:nvSpPr>
        <p:spPr>
          <a:xfrm>
            <a:off x="8995465" y="977932"/>
            <a:ext cx="2880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Julien VILLEMEJANE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riangle rectangle 6">
            <a:extLst>
              <a:ext uri="{FF2B5EF4-FFF2-40B4-BE49-F238E27FC236}">
                <a16:creationId xmlns:a16="http://schemas.microsoft.com/office/drawing/2014/main" id="{54CB1250-5879-24F5-8415-E9FF7AC3AB11}"/>
              </a:ext>
            </a:extLst>
          </p:cNvPr>
          <p:cNvSpPr/>
          <p:nvPr/>
        </p:nvSpPr>
        <p:spPr bwMode="auto">
          <a:xfrm rot="13515548">
            <a:off x="8513972" y="6153123"/>
            <a:ext cx="273933" cy="274161"/>
          </a:xfrm>
          <a:prstGeom prst="rtTriangle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5622579-AC13-1B23-3C6B-76DB9E79C0D1}"/>
              </a:ext>
            </a:extLst>
          </p:cNvPr>
          <p:cNvSpPr txBox="1"/>
          <p:nvPr/>
        </p:nvSpPr>
        <p:spPr>
          <a:xfrm>
            <a:off x="8936066" y="5928181"/>
            <a:ext cx="28801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Outils Numériques</a:t>
            </a:r>
          </a:p>
          <a:p>
            <a:r>
              <a:rPr lang="fr-F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Pour la Physique</a:t>
            </a:r>
            <a:endParaRPr lang="fr-FR" sz="1200" b="1" dirty="0">
              <a:solidFill>
                <a:schemeClr val="tx1">
                  <a:lumMod val="95000"/>
                  <a:lumOff val="5000"/>
                </a:schemeClr>
              </a:solidFill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234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A30A1-7935-7A55-36DC-6E7A3C59C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352AF4-E16D-207B-394E-7F32D41FA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14" y="287471"/>
            <a:ext cx="6836893" cy="685800"/>
          </a:xfrm>
        </p:spPr>
        <p:txBody>
          <a:bodyPr/>
          <a:lstStyle/>
          <a:p>
            <a:r>
              <a:rPr lang="fr-FR" sz="2400" dirty="0"/>
              <a:t>Programmation et méthodes numériques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5E0EBA-92DE-93AF-4053-625D913C98D2}"/>
              </a:ext>
            </a:extLst>
          </p:cNvPr>
          <p:cNvSpPr/>
          <p:nvPr/>
        </p:nvSpPr>
        <p:spPr bwMode="auto">
          <a:xfrm>
            <a:off x="6175058" y="904245"/>
            <a:ext cx="5760640" cy="45719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7E625090-4981-D1F9-A85F-5D40FAE0DB8F}"/>
              </a:ext>
            </a:extLst>
          </p:cNvPr>
          <p:cNvSpPr/>
          <p:nvPr/>
        </p:nvSpPr>
        <p:spPr bwMode="auto">
          <a:xfrm>
            <a:off x="551384" y="1876763"/>
            <a:ext cx="4711265" cy="400109"/>
          </a:xfrm>
          <a:prstGeom prst="roundRect">
            <a:avLst>
              <a:gd name="adj" fmla="val 21199"/>
            </a:avLst>
          </a:prstGeom>
          <a:solidFill>
            <a:schemeClr val="bg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 w="57150">
                <a:solidFill>
                  <a:srgbClr val="7030A0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2E3F1DA-D71C-9903-2B55-E06BF572E680}"/>
              </a:ext>
            </a:extLst>
          </p:cNvPr>
          <p:cNvSpPr txBox="1"/>
          <p:nvPr/>
        </p:nvSpPr>
        <p:spPr>
          <a:xfrm>
            <a:off x="751498" y="1884531"/>
            <a:ext cx="44881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Outils numériques pour la Physique</a:t>
            </a:r>
            <a:endParaRPr lang="fr-FR" sz="1200" b="1" dirty="0">
              <a:solidFill>
                <a:schemeClr val="tx1">
                  <a:lumMod val="95000"/>
                  <a:lumOff val="5000"/>
                </a:schemeClr>
              </a:solidFill>
              <a:latin typeface="Raleway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4A70495-2FAF-2C9B-A232-F2CBF5C1B3DE}"/>
              </a:ext>
            </a:extLst>
          </p:cNvPr>
          <p:cNvSpPr txBox="1"/>
          <p:nvPr/>
        </p:nvSpPr>
        <p:spPr>
          <a:xfrm>
            <a:off x="764996" y="2412748"/>
            <a:ext cx="447469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Semestre 5  - 2 mini-projets</a:t>
            </a:r>
          </a:p>
          <a:p>
            <a:pPr marL="171450" indent="-171450">
              <a:buFontTx/>
              <a:buChar char="-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Retour sur les bases de programmation</a:t>
            </a:r>
          </a:p>
          <a:p>
            <a:pPr marL="171450" indent="-171450">
              <a:buFontTx/>
              <a:buChar char="-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Bibliothèques scientifiques de base 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Matplotlib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6F32095-E856-4026-8C38-4B9D9C984E22}"/>
              </a:ext>
            </a:extLst>
          </p:cNvPr>
          <p:cNvSpPr txBox="1"/>
          <p:nvPr/>
        </p:nvSpPr>
        <p:spPr>
          <a:xfrm>
            <a:off x="751498" y="3512092"/>
            <a:ext cx="44746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Semestre 6  - 1 mini-projet</a:t>
            </a:r>
          </a:p>
          <a:p>
            <a:pPr marL="171450" indent="-171450">
              <a:buFontTx/>
              <a:buChar char="-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Programmation orientée objet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B2A0A237-D0DF-E480-B362-243BF8ABF518}"/>
              </a:ext>
            </a:extLst>
          </p:cNvPr>
          <p:cNvSpPr/>
          <p:nvPr/>
        </p:nvSpPr>
        <p:spPr bwMode="auto">
          <a:xfrm>
            <a:off x="551384" y="4437112"/>
            <a:ext cx="4711265" cy="400109"/>
          </a:xfrm>
          <a:prstGeom prst="roundRect">
            <a:avLst>
              <a:gd name="adj" fmla="val 21199"/>
            </a:avLst>
          </a:prstGeom>
          <a:solidFill>
            <a:schemeClr val="accent5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 w="57150">
                <a:solidFill>
                  <a:srgbClr val="7030A0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C4847B4-B75E-E8E2-5AD9-50694D78DAD8}"/>
              </a:ext>
            </a:extLst>
          </p:cNvPr>
          <p:cNvSpPr txBox="1"/>
          <p:nvPr/>
        </p:nvSpPr>
        <p:spPr>
          <a:xfrm>
            <a:off x="751498" y="4444880"/>
            <a:ext cx="44881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Interfaçage Numérique</a:t>
            </a:r>
            <a:endParaRPr lang="fr-FR" sz="1200" b="1" dirty="0">
              <a:solidFill>
                <a:schemeClr val="tx1">
                  <a:lumMod val="95000"/>
                  <a:lumOff val="5000"/>
                </a:schemeClr>
              </a:solidFill>
              <a:latin typeface="Raleway" pitchFamily="2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687FD3F6-61C1-248E-F273-71876C9630F0}"/>
              </a:ext>
            </a:extLst>
          </p:cNvPr>
          <p:cNvSpPr/>
          <p:nvPr/>
        </p:nvSpPr>
        <p:spPr bwMode="auto">
          <a:xfrm>
            <a:off x="6752202" y="1868994"/>
            <a:ext cx="4711265" cy="400109"/>
          </a:xfrm>
          <a:prstGeom prst="roundRect">
            <a:avLst>
              <a:gd name="adj" fmla="val 21199"/>
            </a:avLst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 w="57150">
                <a:solidFill>
                  <a:srgbClr val="7030A0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C114530-CCB1-0E2D-079E-659E6E207337}"/>
              </a:ext>
            </a:extLst>
          </p:cNvPr>
          <p:cNvSpPr txBox="1"/>
          <p:nvPr/>
        </p:nvSpPr>
        <p:spPr>
          <a:xfrm>
            <a:off x="6952316" y="1876762"/>
            <a:ext cx="44881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Calcul scientifique / 2AP – </a:t>
            </a:r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Semestre 7</a:t>
            </a:r>
            <a:endParaRPr lang="fr-FR" sz="1200" b="1" dirty="0">
              <a:solidFill>
                <a:schemeClr val="tx1">
                  <a:lumMod val="95000"/>
                  <a:lumOff val="5000"/>
                </a:schemeClr>
              </a:solidFill>
              <a:latin typeface="Raleway" pitchFamily="2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ACFA0C8-3C66-073A-4F18-A5881652DD51}"/>
              </a:ext>
            </a:extLst>
          </p:cNvPr>
          <p:cNvSpPr txBox="1"/>
          <p:nvPr/>
        </p:nvSpPr>
        <p:spPr>
          <a:xfrm>
            <a:off x="7104112" y="2421941"/>
            <a:ext cx="41764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Méthodes numériques pour le calcul scientifique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729E5CAA-2CE2-39BC-2CEF-50253E7BDBD7}"/>
              </a:ext>
            </a:extLst>
          </p:cNvPr>
          <p:cNvSpPr/>
          <p:nvPr/>
        </p:nvSpPr>
        <p:spPr bwMode="auto">
          <a:xfrm>
            <a:off x="6759708" y="3421854"/>
            <a:ext cx="4711265" cy="400109"/>
          </a:xfrm>
          <a:prstGeom prst="roundRect">
            <a:avLst>
              <a:gd name="adj" fmla="val 21199"/>
            </a:avLst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 w="57150">
                <a:solidFill>
                  <a:srgbClr val="7030A0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C5B6C42-2DA9-6096-0915-7C67EFDF8350}"/>
              </a:ext>
            </a:extLst>
          </p:cNvPr>
          <p:cNvSpPr txBox="1"/>
          <p:nvPr/>
        </p:nvSpPr>
        <p:spPr>
          <a:xfrm>
            <a:off x="6959822" y="3429622"/>
            <a:ext cx="44881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Projets Expérimentaux/Numériques</a:t>
            </a:r>
            <a:endParaRPr lang="fr-FR" sz="1200" b="1" dirty="0">
              <a:solidFill>
                <a:schemeClr val="tx1">
                  <a:lumMod val="95000"/>
                  <a:lumOff val="5000"/>
                </a:schemeClr>
              </a:solidFill>
              <a:latin typeface="Raleway" pitchFamily="2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7FE5CA4-029B-262F-5C3D-4E212E4B4478}"/>
              </a:ext>
            </a:extLst>
          </p:cNvPr>
          <p:cNvSpPr txBox="1"/>
          <p:nvPr/>
        </p:nvSpPr>
        <p:spPr>
          <a:xfrm>
            <a:off x="7104112" y="3944713"/>
            <a:ext cx="41764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Utilisation possible de Python pour IHM, simulation, conception optique…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81476B02-5C08-6924-381C-A0C83673F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96" y="5324318"/>
            <a:ext cx="1996093" cy="1339275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3074329C-4806-C0DA-D8D2-F34FB6CA17EE}"/>
              </a:ext>
            </a:extLst>
          </p:cNvPr>
          <p:cNvSpPr txBox="1"/>
          <p:nvPr/>
        </p:nvSpPr>
        <p:spPr>
          <a:xfrm>
            <a:off x="672857" y="4885078"/>
            <a:ext cx="41764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Vision Industrielle /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F7D537B3-2EC0-BA4A-41FB-C4911C548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80" y="5318320"/>
            <a:ext cx="1363896" cy="1345273"/>
          </a:xfrm>
          <a:prstGeom prst="rect">
            <a:avLst/>
          </a:prstGeom>
        </p:spPr>
      </p:pic>
      <p:pic>
        <p:nvPicPr>
          <p:cNvPr id="34" name="Image 33" descr="Une image contenant logiciel, Logiciel multimédia, ordinateur, multimédia&#10;&#10;Le contenu généré par l’IA peut être incorrect.">
            <a:extLst>
              <a:ext uri="{FF2B5EF4-FFF2-40B4-BE49-F238E27FC236}">
                <a16:creationId xmlns:a16="http://schemas.microsoft.com/office/drawing/2014/main" id="{8E35A734-B117-F116-FC2C-451B508BE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557" y="4926647"/>
            <a:ext cx="2808312" cy="1624084"/>
          </a:xfrm>
          <a:prstGeom prst="rect">
            <a:avLst/>
          </a:prstGeom>
        </p:spPr>
      </p:pic>
      <p:pic>
        <p:nvPicPr>
          <p:cNvPr id="36" name="Image 35" descr="Une image contenant microscope&#10;&#10;Le contenu généré par l’IA peut être incorrect.">
            <a:extLst>
              <a:ext uri="{FF2B5EF4-FFF2-40B4-BE49-F238E27FC236}">
                <a16:creationId xmlns:a16="http://schemas.microsoft.com/office/drawing/2014/main" id="{8996C87C-D034-ACF3-CECC-99BF3EF5F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7841" y="4725455"/>
            <a:ext cx="924574" cy="2041041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86B365E9-9F96-6CF5-1CA8-D2CD0DEBAF2D}"/>
              </a:ext>
            </a:extLst>
          </p:cNvPr>
          <p:cNvSpPr txBox="1"/>
          <p:nvPr/>
        </p:nvSpPr>
        <p:spPr>
          <a:xfrm>
            <a:off x="8995465" y="977932"/>
            <a:ext cx="2880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Julien VILLEMEJANE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78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36DBC-C081-0A11-C75B-7283CC450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026DD2-1B1B-842A-99BA-71AD8312C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14" y="287471"/>
            <a:ext cx="6836893" cy="685800"/>
          </a:xfrm>
        </p:spPr>
        <p:txBody>
          <a:bodyPr/>
          <a:lstStyle/>
          <a:p>
            <a:r>
              <a:rPr lang="fr-FR" sz="2400" dirty="0"/>
              <a:t>Programmation et méthodes numériques 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9C5AB68-BED5-9625-3215-C5A2F56B0FC5}"/>
              </a:ext>
            </a:extLst>
          </p:cNvPr>
          <p:cNvSpPr/>
          <p:nvPr/>
        </p:nvSpPr>
        <p:spPr bwMode="auto">
          <a:xfrm>
            <a:off x="861440" y="2378360"/>
            <a:ext cx="4521530" cy="431461"/>
          </a:xfrm>
          <a:prstGeom prst="roundRect">
            <a:avLst>
              <a:gd name="adj" fmla="val 13459"/>
            </a:avLst>
          </a:prstGeom>
          <a:solidFill>
            <a:schemeClr val="bg1"/>
          </a:solidFill>
          <a:ln w="127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>
              <a:ln w="57150">
                <a:solidFill>
                  <a:srgbClr val="7030A0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11" name="Flèche : chevron 10">
            <a:extLst>
              <a:ext uri="{FF2B5EF4-FFF2-40B4-BE49-F238E27FC236}">
                <a16:creationId xmlns:a16="http://schemas.microsoft.com/office/drawing/2014/main" id="{B0055103-6FFF-B3FC-7093-91CC89A5C96D}"/>
              </a:ext>
            </a:extLst>
          </p:cNvPr>
          <p:cNvSpPr/>
          <p:nvPr/>
        </p:nvSpPr>
        <p:spPr bwMode="auto">
          <a:xfrm>
            <a:off x="695400" y="1826417"/>
            <a:ext cx="4687569" cy="368222"/>
          </a:xfrm>
          <a:prstGeom prst="chevron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b="1" dirty="0">
                <a:solidFill>
                  <a:schemeClr val="bg1"/>
                </a:solidFill>
                <a:ea typeface="ＭＳ Ｐゴシック" pitchFamily="1" charset="-128"/>
              </a:rPr>
              <a:t>Réflexions en cours</a:t>
            </a:r>
            <a:endParaRPr kumimoji="0" lang="fr-FR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AF58514A-52C2-D1EE-6C85-A52EC4CE0DF5}"/>
              </a:ext>
            </a:extLst>
          </p:cNvPr>
          <p:cNvSpPr txBox="1"/>
          <p:nvPr/>
        </p:nvSpPr>
        <p:spPr>
          <a:xfrm>
            <a:off x="839416" y="2391151"/>
            <a:ext cx="44881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7030A0"/>
                </a:solidFill>
                <a:latin typeface="Raleway" pitchFamily="2" charset="0"/>
              </a:rPr>
              <a:t>IA génératives</a:t>
            </a:r>
            <a:endParaRPr lang="fr-FR" sz="1200" dirty="0">
              <a:solidFill>
                <a:srgbClr val="7030A0"/>
              </a:solidFill>
              <a:latin typeface="Raleway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3BEEF5-8534-7BE2-31DF-95C7323DC826}"/>
              </a:ext>
            </a:extLst>
          </p:cNvPr>
          <p:cNvSpPr/>
          <p:nvPr/>
        </p:nvSpPr>
        <p:spPr bwMode="auto">
          <a:xfrm>
            <a:off x="6175058" y="904245"/>
            <a:ext cx="5760640" cy="45719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64" name="Triangle rectangle 63">
            <a:extLst>
              <a:ext uri="{FF2B5EF4-FFF2-40B4-BE49-F238E27FC236}">
                <a16:creationId xmlns:a16="http://schemas.microsoft.com/office/drawing/2014/main" id="{7E750A8D-F3BC-054B-4E89-FB2EF0F9A00A}"/>
              </a:ext>
            </a:extLst>
          </p:cNvPr>
          <p:cNvSpPr/>
          <p:nvPr/>
        </p:nvSpPr>
        <p:spPr bwMode="auto">
          <a:xfrm rot="18972734">
            <a:off x="1276921" y="1997637"/>
            <a:ext cx="273933" cy="274161"/>
          </a:xfrm>
          <a:prstGeom prst="rtTriangle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0C03725-F97A-DF59-3A05-9FA1DAA04E72}"/>
              </a:ext>
            </a:extLst>
          </p:cNvPr>
          <p:cNvSpPr txBox="1"/>
          <p:nvPr/>
        </p:nvSpPr>
        <p:spPr>
          <a:xfrm>
            <a:off x="6324797" y="2716203"/>
            <a:ext cx="53413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+mj-lt"/>
              <a:buAutoNum type="arabicPeriod"/>
            </a:pPr>
            <a:r>
              <a:rPr lang="fr-FR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fr-FR" sz="16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Utilisation</a:t>
            </a:r>
            <a:r>
              <a:rPr lang="fr-FR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d'un modèle déjà pré-entrainé </a:t>
            </a:r>
          </a:p>
          <a:p>
            <a:pPr>
              <a:buFont typeface="+mj-lt"/>
              <a:buAutoNum type="arabicPeriod"/>
            </a:pP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Mise en œuvre technique </a:t>
            </a:r>
            <a:r>
              <a:rPr lang="fr-FR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d'un système d'IA (bibliothèques dédiées et modèle de réseau prédéfini)</a:t>
            </a:r>
          </a:p>
          <a:p>
            <a:pPr algn="l" fontAlgn="base">
              <a:buFont typeface="+mj-lt"/>
              <a:buAutoNum type="arabicPeriod"/>
            </a:pPr>
            <a:r>
              <a:rPr lang="fr-FR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fr-FR" sz="16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Conception d'un système d'entrainement </a:t>
            </a:r>
            <a:r>
              <a:rPr lang="fr-FR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complet</a:t>
            </a:r>
          </a:p>
          <a:p>
            <a:pPr algn="l" fontAlgn="base">
              <a:buFont typeface="+mj-lt"/>
              <a:buAutoNum type="arabicPeriod"/>
            </a:pP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Recherche plus avancée, nécessitant la compréhension mathématique des outils numériques utilisés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85917DA-06F1-2A57-171C-1B5EB4FC9CBD}"/>
              </a:ext>
            </a:extLst>
          </p:cNvPr>
          <p:cNvSpPr txBox="1"/>
          <p:nvPr/>
        </p:nvSpPr>
        <p:spPr>
          <a:xfrm>
            <a:off x="8995465" y="977932"/>
            <a:ext cx="2880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Julien VILLEMEJANE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826F5DEC-4CCE-FDC2-F6A0-918825B16351}"/>
              </a:ext>
            </a:extLst>
          </p:cNvPr>
          <p:cNvSpPr/>
          <p:nvPr/>
        </p:nvSpPr>
        <p:spPr bwMode="auto">
          <a:xfrm>
            <a:off x="6240016" y="1876763"/>
            <a:ext cx="4711265" cy="400109"/>
          </a:xfrm>
          <a:prstGeom prst="roundRect">
            <a:avLst>
              <a:gd name="adj" fmla="val 21199"/>
            </a:avLst>
          </a:prstGeom>
          <a:solidFill>
            <a:schemeClr val="bg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 w="57150">
                <a:solidFill>
                  <a:srgbClr val="7030A0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BC0907D-F620-5FE5-FA98-3E2DD3B936F3}"/>
              </a:ext>
            </a:extLst>
          </p:cNvPr>
          <p:cNvSpPr txBox="1"/>
          <p:nvPr/>
        </p:nvSpPr>
        <p:spPr>
          <a:xfrm>
            <a:off x="6440130" y="1884531"/>
            <a:ext cx="44881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Formation à l’IA (</a:t>
            </a:r>
            <a:r>
              <a:rPr lang="fr-FR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Deep </a:t>
            </a:r>
            <a:r>
              <a:rPr lang="fr-FR" sz="20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learning</a:t>
            </a:r>
            <a:r>
              <a:rPr lang="fr-FR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…</a:t>
            </a:r>
            <a:r>
              <a:rPr lang="fr-F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)</a:t>
            </a:r>
            <a:endParaRPr lang="fr-FR" sz="1200" b="1" dirty="0">
              <a:solidFill>
                <a:schemeClr val="tx1">
                  <a:lumMod val="95000"/>
                  <a:lumOff val="5000"/>
                </a:schemeClr>
              </a:solidFill>
              <a:latin typeface="Raleway" pitchFamily="2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4E86175-497F-9E2C-70A3-982DFCCED1D2}"/>
              </a:ext>
            </a:extLst>
          </p:cNvPr>
          <p:cNvSpPr txBox="1"/>
          <p:nvPr/>
        </p:nvSpPr>
        <p:spPr>
          <a:xfrm>
            <a:off x="773151" y="3484390"/>
            <a:ext cx="453206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fr-FR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Comment sont-elles perçues/utilisées </a:t>
            </a:r>
            <a:r>
              <a:rPr lang="fr-F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dans le monde professionnel et académique ?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fr-FR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Quelle place leur donner dans nos enseignements ?</a:t>
            </a:r>
            <a:r>
              <a:rPr lang="fr-F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Comment motiver les élèves à une utilisation plus raisonnée ? Est-ce notre rôle en tant qu'institution de l'enseignement supérieur ?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endParaRPr lang="fr-FR" sz="18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fr-FR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Comment prendre en compte leur usage dans l'évaluation des compétences de nos élèves ?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00DFFBF-84DE-8A16-8E3E-1770FF7279BE}"/>
              </a:ext>
            </a:extLst>
          </p:cNvPr>
          <p:cNvSpPr txBox="1"/>
          <p:nvPr/>
        </p:nvSpPr>
        <p:spPr>
          <a:xfrm>
            <a:off x="861440" y="2879594"/>
            <a:ext cx="49458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fr-FR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ONIP – Pas de restriction / Mise en garde sur l’utilisation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6862E4A-3CCA-BC65-36A2-E28FF800CD10}"/>
              </a:ext>
            </a:extLst>
          </p:cNvPr>
          <p:cNvSpPr txBox="1"/>
          <p:nvPr/>
        </p:nvSpPr>
        <p:spPr>
          <a:xfrm>
            <a:off x="6272437" y="2377649"/>
            <a:ext cx="49458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fr-FR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4 niveaux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9F3FC75-FEB6-6E88-6A8B-04F1E899E057}"/>
              </a:ext>
            </a:extLst>
          </p:cNvPr>
          <p:cNvSpPr txBox="1"/>
          <p:nvPr/>
        </p:nvSpPr>
        <p:spPr>
          <a:xfrm>
            <a:off x="6356180" y="4509120"/>
            <a:ext cx="48621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fr-FR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Quelles notions doit-on introduire dans nos enseignements ? </a:t>
            </a:r>
            <a:r>
              <a:rPr lang="fr-F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Où placer la barre des compétences nécessaires pour </a:t>
            </a:r>
            <a:r>
              <a:rPr lang="fr-FR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tout.e</a:t>
            </a:r>
            <a:r>
              <a:rPr lang="fr-F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fr-FR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étudiant.e</a:t>
            </a:r>
            <a:r>
              <a:rPr lang="fr-F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de </a:t>
            </a:r>
            <a:r>
              <a:rPr lang="fr-FR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SupOptique</a:t>
            </a:r>
            <a:r>
              <a:rPr lang="fr-F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?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endParaRPr lang="fr-FR" sz="18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fr-F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Doit-on introduire la notion d'agent artificiel ?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A690E7C-F97F-EFD8-8319-EEC6C90B0BFC}"/>
              </a:ext>
            </a:extLst>
          </p:cNvPr>
          <p:cNvSpPr txBox="1"/>
          <p:nvPr/>
        </p:nvSpPr>
        <p:spPr>
          <a:xfrm>
            <a:off x="7403632" y="6416640"/>
            <a:ext cx="45320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i="1" dirty="0">
                <a:latin typeface="Arial" panose="020B0604020202020204" pitchFamily="34" charset="0"/>
                <a:cs typeface="Arial" panose="020B0604020202020204" pitchFamily="34" charset="0"/>
              </a:rPr>
              <a:t>Voir intervention de Franck Delmotte en complément</a:t>
            </a:r>
          </a:p>
        </p:txBody>
      </p:sp>
    </p:spTree>
    <p:extLst>
      <p:ext uri="{BB962C8B-B14F-4D97-AF65-F5344CB8AC3E}">
        <p14:creationId xmlns:p14="http://schemas.microsoft.com/office/powerpoint/2010/main" val="622528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71907-5E60-E3D7-0275-7488CE5A4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DC6AD6-6FEF-AB6D-DCF7-C10B238E5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14" y="287471"/>
            <a:ext cx="6836893" cy="685800"/>
          </a:xfrm>
        </p:spPr>
        <p:txBody>
          <a:bodyPr/>
          <a:lstStyle/>
          <a:p>
            <a:r>
              <a:rPr lang="fr-FR" sz="2400" dirty="0"/>
              <a:t>Programmation et méthodes numériques 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6A5ECF3-ABCD-D8C7-A41C-836AC65F5A60}"/>
              </a:ext>
            </a:extLst>
          </p:cNvPr>
          <p:cNvSpPr/>
          <p:nvPr/>
        </p:nvSpPr>
        <p:spPr bwMode="auto">
          <a:xfrm>
            <a:off x="861440" y="2378360"/>
            <a:ext cx="4521530" cy="431461"/>
          </a:xfrm>
          <a:prstGeom prst="roundRect">
            <a:avLst>
              <a:gd name="adj" fmla="val 13459"/>
            </a:avLst>
          </a:prstGeom>
          <a:solidFill>
            <a:schemeClr val="bg1"/>
          </a:solidFill>
          <a:ln w="127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>
              <a:ln w="57150">
                <a:solidFill>
                  <a:srgbClr val="7030A0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11" name="Flèche : chevron 10">
            <a:extLst>
              <a:ext uri="{FF2B5EF4-FFF2-40B4-BE49-F238E27FC236}">
                <a16:creationId xmlns:a16="http://schemas.microsoft.com/office/drawing/2014/main" id="{E70B8CCA-AD84-8659-8A39-73E8DE9922D8}"/>
              </a:ext>
            </a:extLst>
          </p:cNvPr>
          <p:cNvSpPr/>
          <p:nvPr/>
        </p:nvSpPr>
        <p:spPr bwMode="auto">
          <a:xfrm>
            <a:off x="695400" y="1826417"/>
            <a:ext cx="4687569" cy="368222"/>
          </a:xfrm>
          <a:prstGeom prst="chevron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b="1" dirty="0">
                <a:solidFill>
                  <a:schemeClr val="bg1"/>
                </a:solidFill>
                <a:ea typeface="ＭＳ Ｐゴシック" pitchFamily="1" charset="-128"/>
              </a:rPr>
              <a:t>Réflexions en cours</a:t>
            </a:r>
            <a:endParaRPr kumimoji="0" lang="fr-FR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DD402773-6854-E733-5C96-B6238A61E112}"/>
              </a:ext>
            </a:extLst>
          </p:cNvPr>
          <p:cNvSpPr txBox="1"/>
          <p:nvPr/>
        </p:nvSpPr>
        <p:spPr>
          <a:xfrm>
            <a:off x="839416" y="2391151"/>
            <a:ext cx="44881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7030A0"/>
                </a:solidFill>
                <a:latin typeface="Raleway" pitchFamily="2" charset="0"/>
              </a:rPr>
              <a:t>IA génératives</a:t>
            </a:r>
            <a:endParaRPr lang="fr-FR" sz="1200" dirty="0">
              <a:solidFill>
                <a:srgbClr val="7030A0"/>
              </a:solidFill>
              <a:latin typeface="Raleway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8C9111-E605-F60D-280E-A94D3DC5D84F}"/>
              </a:ext>
            </a:extLst>
          </p:cNvPr>
          <p:cNvSpPr/>
          <p:nvPr/>
        </p:nvSpPr>
        <p:spPr bwMode="auto">
          <a:xfrm>
            <a:off x="6175058" y="904245"/>
            <a:ext cx="5760640" cy="45719"/>
          </a:xfrm>
          <a:prstGeom prst="rect">
            <a:avLst/>
          </a:prstGeom>
          <a:solidFill>
            <a:srgbClr val="FF960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64" name="Triangle rectangle 63">
            <a:extLst>
              <a:ext uri="{FF2B5EF4-FFF2-40B4-BE49-F238E27FC236}">
                <a16:creationId xmlns:a16="http://schemas.microsoft.com/office/drawing/2014/main" id="{B35E4CFE-DEE3-3441-1837-0AFE911076FB}"/>
              </a:ext>
            </a:extLst>
          </p:cNvPr>
          <p:cNvSpPr/>
          <p:nvPr/>
        </p:nvSpPr>
        <p:spPr bwMode="auto">
          <a:xfrm rot="18972734">
            <a:off x="1276921" y="1997637"/>
            <a:ext cx="273933" cy="274161"/>
          </a:xfrm>
          <a:prstGeom prst="rtTriangle">
            <a:avLst/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MS PGothic" pitchFamily="34" charset="-128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0F4224D-84A7-BEE0-7264-47166A98EB44}"/>
              </a:ext>
            </a:extLst>
          </p:cNvPr>
          <p:cNvSpPr txBox="1"/>
          <p:nvPr/>
        </p:nvSpPr>
        <p:spPr>
          <a:xfrm>
            <a:off x="8995465" y="977932"/>
            <a:ext cx="2880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Julien VILLEMEJANE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08E756D4-34C7-5496-7CC6-09167E50A672}"/>
              </a:ext>
            </a:extLst>
          </p:cNvPr>
          <p:cNvSpPr/>
          <p:nvPr/>
        </p:nvSpPr>
        <p:spPr bwMode="auto">
          <a:xfrm>
            <a:off x="6240016" y="1876763"/>
            <a:ext cx="4711265" cy="400109"/>
          </a:xfrm>
          <a:prstGeom prst="roundRect">
            <a:avLst>
              <a:gd name="adj" fmla="val 21199"/>
            </a:avLst>
          </a:prstGeom>
          <a:solidFill>
            <a:schemeClr val="bg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 w="57150">
                <a:solidFill>
                  <a:srgbClr val="7030A0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6644434-0F91-C86B-A19C-91C96C92467C}"/>
              </a:ext>
            </a:extLst>
          </p:cNvPr>
          <p:cNvSpPr txBox="1"/>
          <p:nvPr/>
        </p:nvSpPr>
        <p:spPr>
          <a:xfrm>
            <a:off x="6440130" y="1884531"/>
            <a:ext cx="44881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Formation à l’IA (</a:t>
            </a:r>
            <a:r>
              <a:rPr lang="fr-FR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Deep </a:t>
            </a:r>
            <a:r>
              <a:rPr lang="fr-FR" sz="20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learning</a:t>
            </a:r>
            <a:r>
              <a:rPr lang="fr-FR" sz="2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…</a:t>
            </a:r>
            <a:r>
              <a:rPr lang="fr-F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)</a:t>
            </a:r>
            <a:endParaRPr lang="fr-FR" sz="1200" b="1" dirty="0">
              <a:solidFill>
                <a:schemeClr val="tx1">
                  <a:lumMod val="95000"/>
                  <a:lumOff val="5000"/>
                </a:schemeClr>
              </a:solidFill>
              <a:latin typeface="Raleway" pitchFamily="2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646C68A-F8F3-F804-096E-4F324B2E291E}"/>
              </a:ext>
            </a:extLst>
          </p:cNvPr>
          <p:cNvSpPr txBox="1"/>
          <p:nvPr/>
        </p:nvSpPr>
        <p:spPr>
          <a:xfrm>
            <a:off x="773151" y="3484390"/>
            <a:ext cx="453206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fr-FR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Comment sont-elles perçues/utilisées </a:t>
            </a:r>
            <a:r>
              <a:rPr lang="fr-F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dans le monde professionnel et académique ?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fr-FR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Quelle place leur donner dans nos enseignements ?</a:t>
            </a:r>
            <a:r>
              <a:rPr lang="fr-F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Comment motiver les élèves à une utilisation plus raisonnée ? Est-ce notre rôle en tant qu'institution de l'enseignement supérieur ?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endParaRPr lang="fr-FR" sz="18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fr-FR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Comment prendre en compte leur usage dans l'évaluation des compétences de nos élèves ?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B4C3873-5FBB-3F4C-76D2-C420C2BDD947}"/>
              </a:ext>
            </a:extLst>
          </p:cNvPr>
          <p:cNvSpPr txBox="1"/>
          <p:nvPr/>
        </p:nvSpPr>
        <p:spPr>
          <a:xfrm>
            <a:off x="861440" y="2879594"/>
            <a:ext cx="49458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fr-FR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ONIP – Pas de restriction / Mise en garde sur l’utilisation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32A60ED-C5F4-1A67-D3FE-238475559977}"/>
              </a:ext>
            </a:extLst>
          </p:cNvPr>
          <p:cNvSpPr txBox="1"/>
          <p:nvPr/>
        </p:nvSpPr>
        <p:spPr>
          <a:xfrm>
            <a:off x="6356180" y="2420888"/>
            <a:ext cx="48621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fr-FR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Quelles notions doit-on introduire dans nos enseignements ? </a:t>
            </a:r>
            <a:r>
              <a:rPr lang="fr-F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Où placer la barre des compétences nécessaires pour </a:t>
            </a:r>
            <a:r>
              <a:rPr lang="fr-FR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tout.e</a:t>
            </a:r>
            <a:r>
              <a:rPr lang="fr-F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fr-FR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étudiant.e</a:t>
            </a:r>
            <a:r>
              <a:rPr lang="fr-F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de </a:t>
            </a:r>
            <a:r>
              <a:rPr lang="fr-FR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SupOptique</a:t>
            </a:r>
            <a:r>
              <a:rPr lang="fr-F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?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endParaRPr lang="fr-FR" sz="18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fr-F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Doit-on introduire la notion d'agent artificiel ?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BDE7E3CE-ED32-94E8-3CE5-9A06C0D0A764}"/>
              </a:ext>
            </a:extLst>
          </p:cNvPr>
          <p:cNvSpPr/>
          <p:nvPr/>
        </p:nvSpPr>
        <p:spPr bwMode="auto">
          <a:xfrm>
            <a:off x="6240016" y="4581128"/>
            <a:ext cx="4711265" cy="400109"/>
          </a:xfrm>
          <a:prstGeom prst="roundRect">
            <a:avLst>
              <a:gd name="adj" fmla="val 21199"/>
            </a:avLst>
          </a:prstGeom>
          <a:solidFill>
            <a:schemeClr val="bg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>
              <a:ln w="57150">
                <a:solidFill>
                  <a:srgbClr val="7030A0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0D0F019-DF53-F01E-0530-40DDCCA92EE1}"/>
              </a:ext>
            </a:extLst>
          </p:cNvPr>
          <p:cNvSpPr txBox="1"/>
          <p:nvPr/>
        </p:nvSpPr>
        <p:spPr>
          <a:xfrm>
            <a:off x="6440130" y="4587735"/>
            <a:ext cx="44881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aleway" pitchFamily="2" charset="0"/>
              </a:rPr>
              <a:t>Enjeux sociétaux de l’IA</a:t>
            </a:r>
            <a:endParaRPr lang="fr-FR" sz="1200" b="1" dirty="0">
              <a:solidFill>
                <a:schemeClr val="tx1">
                  <a:lumMod val="95000"/>
                  <a:lumOff val="5000"/>
                </a:schemeClr>
              </a:solidFill>
              <a:latin typeface="Raleway" pitchFamily="2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943DED3-1089-C767-4783-5C6D9FD0C524}"/>
              </a:ext>
            </a:extLst>
          </p:cNvPr>
          <p:cNvSpPr txBox="1"/>
          <p:nvPr/>
        </p:nvSpPr>
        <p:spPr>
          <a:xfrm>
            <a:off x="6356180" y="5169966"/>
            <a:ext cx="48621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fr-FR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Performances énergétiques / Climat</a:t>
            </a:r>
            <a:r>
              <a:rPr lang="fr-FR" sz="1800" dirty="0">
                <a:solidFill>
                  <a:srgbClr val="000000"/>
                </a:solidFill>
                <a:latin typeface="Calibri" panose="020F0502020204030204" pitchFamily="34" charset="0"/>
              </a:rPr>
              <a:t> ?</a:t>
            </a:r>
            <a:endParaRPr lang="fr-FR" sz="180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endParaRPr lang="fr-FR" sz="18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fr-F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Super-intelligence et perte de contrôle ? </a:t>
            </a:r>
          </a:p>
        </p:txBody>
      </p:sp>
    </p:spTree>
    <p:extLst>
      <p:ext uri="{BB962C8B-B14F-4D97-AF65-F5344CB8AC3E}">
        <p14:creationId xmlns:p14="http://schemas.microsoft.com/office/powerpoint/2010/main" val="863142863"/>
      </p:ext>
    </p:extLst>
  </p:cSld>
  <p:clrMapOvr>
    <a:masterClrMapping/>
  </p:clrMapOvr>
</p:sld>
</file>

<file path=ppt/theme/theme1.xml><?xml version="1.0" encoding="utf-8"?>
<a:theme xmlns:a="http://schemas.openxmlformats.org/drawingml/2006/main" name="DRAFT PRES CA_IO_13-06-12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RAFT PRES CA_IO_13-06-12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Gothic" pitchFamily="34" charset="-128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DRAFT PRES CA_IO_13-06-12</Template>
  <TotalTime>25847</TotalTime>
  <Words>449</Words>
  <Application>Microsoft Office PowerPoint</Application>
  <PresentationFormat>Grand écran</PresentationFormat>
  <Paragraphs>65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</vt:i4>
      </vt:variant>
    </vt:vector>
  </HeadingPairs>
  <TitlesOfParts>
    <vt:vector size="12" baseType="lpstr">
      <vt:lpstr>ＭＳ Ｐゴシック</vt:lpstr>
      <vt:lpstr>Arial</vt:lpstr>
      <vt:lpstr>Calibri</vt:lpstr>
      <vt:lpstr>Century Gothic</vt:lpstr>
      <vt:lpstr>Raleway</vt:lpstr>
      <vt:lpstr>Wingdings</vt:lpstr>
      <vt:lpstr>DRAFT PRES CA_IO_13-06-12</vt:lpstr>
      <vt:lpstr>1_DRAFT PRES CA_IO_13-06-12</vt:lpstr>
      <vt:lpstr>Programmation et méthodes numériques </vt:lpstr>
      <vt:lpstr>Programmation et méthodes numériques </vt:lpstr>
      <vt:lpstr>Programmation et méthodes numériques </vt:lpstr>
      <vt:lpstr>Programmation et méthodes numériques </vt:lpstr>
    </vt:vector>
  </TitlesOfParts>
  <Company>Institut d'Optique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CoPerf 2026</dc:title>
  <dc:creator>Institut d'Optique</dc:creator>
  <cp:lastModifiedBy>Julien VILLEMEJANE</cp:lastModifiedBy>
  <cp:revision>1526</cp:revision>
  <cp:lastPrinted>2021-12-20T13:30:17Z</cp:lastPrinted>
  <dcterms:created xsi:type="dcterms:W3CDTF">2012-05-10T13:56:34Z</dcterms:created>
  <dcterms:modified xsi:type="dcterms:W3CDTF">2026-02-12T16:22:10Z</dcterms:modified>
</cp:coreProperties>
</file>